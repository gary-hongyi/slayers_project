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1122" r:id="rId2"/>
    <p:sldId id="264" r:id="rId3"/>
    <p:sldId id="265" r:id="rId4"/>
    <p:sldId id="266" r:id="rId5"/>
    <p:sldId id="280" r:id="rId6"/>
    <p:sldId id="274" r:id="rId7"/>
    <p:sldId id="271" r:id="rId8"/>
    <p:sldId id="269" r:id="rId9"/>
    <p:sldId id="268" r:id="rId10"/>
    <p:sldId id="277" r:id="rId11"/>
    <p:sldId id="257" r:id="rId12"/>
    <p:sldId id="259" r:id="rId13"/>
    <p:sldId id="260" r:id="rId14"/>
    <p:sldId id="258" r:id="rId15"/>
    <p:sldId id="270" r:id="rId16"/>
    <p:sldId id="261" r:id="rId17"/>
    <p:sldId id="262" r:id="rId18"/>
    <p:sldId id="263" r:id="rId19"/>
    <p:sldId id="272" r:id="rId20"/>
    <p:sldId id="27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CF5643-5187-4F44-A61E-B0045FFCE930}" v="5" dt="2026-06-05T04:34:58.5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18" autoAdjust="0"/>
    <p:restoredTop sz="86122" autoAdjust="0"/>
  </p:normalViewPr>
  <p:slideViewPr>
    <p:cSldViewPr>
      <p:cViewPr varScale="1">
        <p:scale>
          <a:sx n="95" d="100"/>
          <a:sy n="95" d="100"/>
        </p:scale>
        <p:origin x="1710"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imoor Zahid (Staff)" userId="8e2cbc32-cfa8-45f3-a464-d4a41fce49a1" providerId="ADAL" clId="{78AE76B7-35E5-4B68-BBC0-6246DF42C01D}"/>
    <pc:docChg chg="undo custSel mod addSld delSld modSld">
      <pc:chgData name="Taimoor Zahid (Staff)" userId="8e2cbc32-cfa8-45f3-a464-d4a41fce49a1" providerId="ADAL" clId="{78AE76B7-35E5-4B68-BBC0-6246DF42C01D}" dt="2026-06-05T05:15:46.984" v="281" actId="313"/>
      <pc:docMkLst>
        <pc:docMk/>
      </pc:docMkLst>
      <pc:sldChg chg="modSp del mod">
        <pc:chgData name="Taimoor Zahid (Staff)" userId="8e2cbc32-cfa8-45f3-a464-d4a41fce49a1" providerId="ADAL" clId="{78AE76B7-35E5-4B68-BBC0-6246DF42C01D}" dt="2026-06-05T04:35:33.262" v="247" actId="47"/>
        <pc:sldMkLst>
          <pc:docMk/>
          <pc:sldMk cId="2346110889" sldId="256"/>
        </pc:sldMkLst>
        <pc:spChg chg="mod">
          <ac:chgData name="Taimoor Zahid (Staff)" userId="8e2cbc32-cfa8-45f3-a464-d4a41fce49a1" providerId="ADAL" clId="{78AE76B7-35E5-4B68-BBC0-6246DF42C01D}" dt="2026-06-04T03:22:24.269" v="0" actId="1076"/>
          <ac:spMkLst>
            <pc:docMk/>
            <pc:sldMk cId="2346110889" sldId="256"/>
            <ac:spMk id="3" creationId="{00000000-0000-0000-0000-000000000000}"/>
          </ac:spMkLst>
        </pc:spChg>
      </pc:sldChg>
      <pc:sldChg chg="modSp mod">
        <pc:chgData name="Taimoor Zahid (Staff)" userId="8e2cbc32-cfa8-45f3-a464-d4a41fce49a1" providerId="ADAL" clId="{78AE76B7-35E5-4B68-BBC0-6246DF42C01D}" dt="2026-06-05T05:02:48.115" v="280" actId="20577"/>
        <pc:sldMkLst>
          <pc:docMk/>
          <pc:sldMk cId="3333799232" sldId="261"/>
        </pc:sldMkLst>
        <pc:spChg chg="mod">
          <ac:chgData name="Taimoor Zahid (Staff)" userId="8e2cbc32-cfa8-45f3-a464-d4a41fce49a1" providerId="ADAL" clId="{78AE76B7-35E5-4B68-BBC0-6246DF42C01D}" dt="2026-06-05T05:02:48.115" v="280" actId="20577"/>
          <ac:spMkLst>
            <pc:docMk/>
            <pc:sldMk cId="3333799232" sldId="261"/>
            <ac:spMk id="3" creationId="{00000000-0000-0000-0000-000000000000}"/>
          </ac:spMkLst>
        </pc:spChg>
      </pc:sldChg>
      <pc:sldChg chg="modSp mod">
        <pc:chgData name="Taimoor Zahid (Staff)" userId="8e2cbc32-cfa8-45f3-a464-d4a41fce49a1" providerId="ADAL" clId="{78AE76B7-35E5-4B68-BBC0-6246DF42C01D}" dt="2026-06-04T03:40:18.760" v="162" actId="113"/>
        <pc:sldMkLst>
          <pc:docMk/>
          <pc:sldMk cId="1090676088" sldId="262"/>
        </pc:sldMkLst>
        <pc:spChg chg="mod">
          <ac:chgData name="Taimoor Zahid (Staff)" userId="8e2cbc32-cfa8-45f3-a464-d4a41fce49a1" providerId="ADAL" clId="{78AE76B7-35E5-4B68-BBC0-6246DF42C01D}" dt="2026-06-04T03:40:18.760" v="162" actId="113"/>
          <ac:spMkLst>
            <pc:docMk/>
            <pc:sldMk cId="1090676088" sldId="262"/>
            <ac:spMk id="3" creationId="{00000000-0000-0000-0000-000000000000}"/>
          </ac:spMkLst>
        </pc:spChg>
      </pc:sldChg>
      <pc:sldChg chg="modSp mod">
        <pc:chgData name="Taimoor Zahid (Staff)" userId="8e2cbc32-cfa8-45f3-a464-d4a41fce49a1" providerId="ADAL" clId="{78AE76B7-35E5-4B68-BBC0-6246DF42C01D}" dt="2026-06-05T05:15:46.984" v="281" actId="313"/>
        <pc:sldMkLst>
          <pc:docMk/>
          <pc:sldMk cId="3135665532" sldId="264"/>
        </pc:sldMkLst>
        <pc:spChg chg="mod">
          <ac:chgData name="Taimoor Zahid (Staff)" userId="8e2cbc32-cfa8-45f3-a464-d4a41fce49a1" providerId="ADAL" clId="{78AE76B7-35E5-4B68-BBC0-6246DF42C01D}" dt="2026-06-05T05:15:46.984" v="281" actId="313"/>
          <ac:spMkLst>
            <pc:docMk/>
            <pc:sldMk cId="3135665532" sldId="264"/>
            <ac:spMk id="3" creationId="{00000000-0000-0000-0000-000000000000}"/>
          </ac:spMkLst>
        </pc:spChg>
      </pc:sldChg>
      <pc:sldChg chg="modSp mod">
        <pc:chgData name="Taimoor Zahid (Staff)" userId="8e2cbc32-cfa8-45f3-a464-d4a41fce49a1" providerId="ADAL" clId="{78AE76B7-35E5-4B68-BBC0-6246DF42C01D}" dt="2026-06-05T04:43:23.787" v="261" actId="6549"/>
        <pc:sldMkLst>
          <pc:docMk/>
          <pc:sldMk cId="3035091223" sldId="269"/>
        </pc:sldMkLst>
        <pc:graphicFrameChg chg="mod modGraphic">
          <ac:chgData name="Taimoor Zahid (Staff)" userId="8e2cbc32-cfa8-45f3-a464-d4a41fce49a1" providerId="ADAL" clId="{78AE76B7-35E5-4B68-BBC0-6246DF42C01D}" dt="2026-06-05T04:43:23.787" v="261" actId="6549"/>
          <ac:graphicFrameMkLst>
            <pc:docMk/>
            <pc:sldMk cId="3035091223" sldId="269"/>
            <ac:graphicFrameMk id="3" creationId="{00000000-0000-0000-0000-000000000000}"/>
          </ac:graphicFrameMkLst>
        </pc:graphicFrameChg>
      </pc:sldChg>
      <pc:sldChg chg="modSp mod">
        <pc:chgData name="Taimoor Zahid (Staff)" userId="8e2cbc32-cfa8-45f3-a464-d4a41fce49a1" providerId="ADAL" clId="{78AE76B7-35E5-4B68-BBC0-6246DF42C01D}" dt="2026-06-04T03:24:07.212" v="43" actId="20577"/>
        <pc:sldMkLst>
          <pc:docMk/>
          <pc:sldMk cId="4279063006" sldId="271"/>
        </pc:sldMkLst>
        <pc:spChg chg="mod">
          <ac:chgData name="Taimoor Zahid (Staff)" userId="8e2cbc32-cfa8-45f3-a464-d4a41fce49a1" providerId="ADAL" clId="{78AE76B7-35E5-4B68-BBC0-6246DF42C01D}" dt="2026-06-04T03:24:07.212" v="43" actId="20577"/>
          <ac:spMkLst>
            <pc:docMk/>
            <pc:sldMk cId="4279063006" sldId="271"/>
            <ac:spMk id="3" creationId="{00000000-0000-0000-0000-000000000000}"/>
          </ac:spMkLst>
        </pc:spChg>
      </pc:sldChg>
      <pc:sldChg chg="modSp mod">
        <pc:chgData name="Taimoor Zahid (Staff)" userId="8e2cbc32-cfa8-45f3-a464-d4a41fce49a1" providerId="ADAL" clId="{78AE76B7-35E5-4B68-BBC0-6246DF42C01D}" dt="2026-06-04T03:42:22.293" v="217" actId="14100"/>
        <pc:sldMkLst>
          <pc:docMk/>
          <pc:sldMk cId="69341758" sldId="277"/>
        </pc:sldMkLst>
        <pc:spChg chg="mod">
          <ac:chgData name="Taimoor Zahid (Staff)" userId="8e2cbc32-cfa8-45f3-a464-d4a41fce49a1" providerId="ADAL" clId="{78AE76B7-35E5-4B68-BBC0-6246DF42C01D}" dt="2026-06-04T03:42:22.293" v="217" actId="14100"/>
          <ac:spMkLst>
            <pc:docMk/>
            <pc:sldMk cId="69341758" sldId="277"/>
            <ac:spMk id="3" creationId="{00000000-0000-0000-0000-000000000000}"/>
          </ac:spMkLst>
        </pc:spChg>
      </pc:sldChg>
      <pc:sldChg chg="modSp mod">
        <pc:chgData name="Taimoor Zahid (Staff)" userId="8e2cbc32-cfa8-45f3-a464-d4a41fce49a1" providerId="ADAL" clId="{78AE76B7-35E5-4B68-BBC0-6246DF42C01D}" dt="2026-06-04T03:41:46.363" v="166" actId="20577"/>
        <pc:sldMkLst>
          <pc:docMk/>
          <pc:sldMk cId="2435584166" sldId="279"/>
        </pc:sldMkLst>
        <pc:spChg chg="mod">
          <ac:chgData name="Taimoor Zahid (Staff)" userId="8e2cbc32-cfa8-45f3-a464-d4a41fce49a1" providerId="ADAL" clId="{78AE76B7-35E5-4B68-BBC0-6246DF42C01D}" dt="2026-06-04T03:41:46.363" v="166" actId="20577"/>
          <ac:spMkLst>
            <pc:docMk/>
            <pc:sldMk cId="2435584166" sldId="279"/>
            <ac:spMk id="3" creationId="{00000000-0000-0000-0000-000000000000}"/>
          </ac:spMkLst>
        </pc:spChg>
      </pc:sldChg>
      <pc:sldChg chg="modSp add mod">
        <pc:chgData name="Taimoor Zahid (Staff)" userId="8e2cbc32-cfa8-45f3-a464-d4a41fce49a1" providerId="ADAL" clId="{78AE76B7-35E5-4B68-BBC0-6246DF42C01D}" dt="2026-06-05T04:35:19.918" v="246" actId="20577"/>
        <pc:sldMkLst>
          <pc:docMk/>
          <pc:sldMk cId="1868790170" sldId="1122"/>
        </pc:sldMkLst>
        <pc:spChg chg="mod">
          <ac:chgData name="Taimoor Zahid (Staff)" userId="8e2cbc32-cfa8-45f3-a464-d4a41fce49a1" providerId="ADAL" clId="{78AE76B7-35E5-4B68-BBC0-6246DF42C01D}" dt="2026-06-05T04:35:19.918" v="246" actId="20577"/>
          <ac:spMkLst>
            <pc:docMk/>
            <pc:sldMk cId="1868790170" sldId="1122"/>
            <ac:spMk id="17" creationId="{47B25DD8-0279-1A49-E3B0-FF47FE4D1B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2B5CE1-8FC2-4A42-AEC2-2973C424EECB}" type="datetimeFigureOut">
              <a:rPr lang="en-GB" smtClean="0"/>
              <a:t>05/06/2026</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51FBE5-9FBC-4A36-A996-A2F5BC6106AB}" type="slidenum">
              <a:rPr lang="en-GB" smtClean="0"/>
              <a:t>‹#›</a:t>
            </a:fld>
            <a:endParaRPr lang="en-GB" dirty="0"/>
          </a:p>
        </p:txBody>
      </p:sp>
    </p:spTree>
    <p:extLst>
      <p:ext uri="{BB962C8B-B14F-4D97-AF65-F5344CB8AC3E}">
        <p14:creationId xmlns:p14="http://schemas.microsoft.com/office/powerpoint/2010/main" val="3814965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056B97E-0301-44C4-9953-03B1476B20F0}" type="slidenum">
              <a:rPr lang="en-GB" smtClean="0"/>
              <a:t>1</a:t>
            </a:fld>
            <a:endParaRPr lang="en-GB"/>
          </a:p>
        </p:txBody>
      </p:sp>
    </p:spTree>
    <p:extLst>
      <p:ext uri="{BB962C8B-B14F-4D97-AF65-F5344CB8AC3E}">
        <p14:creationId xmlns:p14="http://schemas.microsoft.com/office/powerpoint/2010/main" val="716302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B51FBE5-9FBC-4A36-A996-A2F5BC6106AB}" type="slidenum">
              <a:rPr lang="en-GB" smtClean="0"/>
              <a:t>8</a:t>
            </a:fld>
            <a:endParaRPr lang="en-GB"/>
          </a:p>
        </p:txBody>
      </p:sp>
    </p:spTree>
    <p:extLst>
      <p:ext uri="{BB962C8B-B14F-4D97-AF65-F5344CB8AC3E}">
        <p14:creationId xmlns:p14="http://schemas.microsoft.com/office/powerpoint/2010/main" val="2925203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177542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1499626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2051353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733497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3348017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2884189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3301016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2762354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2093133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3404728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008DC8A-0EBF-4944-ABC3-4CDAEA4F2B85}" type="datetimeFigureOut">
              <a:rPr lang="en-GB" smtClean="0"/>
              <a:t>05/06/2026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400C0CA-370F-4795-87BE-983E26633924}" type="slidenum">
              <a:rPr lang="en-GB" smtClean="0"/>
              <a:t>‹#›</a:t>
            </a:fld>
            <a:endParaRPr lang="en-GB" dirty="0"/>
          </a:p>
        </p:txBody>
      </p:sp>
    </p:spTree>
    <p:extLst>
      <p:ext uri="{BB962C8B-B14F-4D97-AF65-F5344CB8AC3E}">
        <p14:creationId xmlns:p14="http://schemas.microsoft.com/office/powerpoint/2010/main" val="1171588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08DC8A-0EBF-4944-ABC3-4CDAEA4F2B85}" type="datetimeFigureOut">
              <a:rPr lang="en-GB" smtClean="0"/>
              <a:t>05/06/2026</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00C0CA-370F-4795-87BE-983E26633924}" type="slidenum">
              <a:rPr lang="en-GB" smtClean="0"/>
              <a:t>‹#›</a:t>
            </a:fld>
            <a:endParaRPr lang="en-GB" dirty="0"/>
          </a:p>
        </p:txBody>
      </p:sp>
    </p:spTree>
    <p:extLst>
      <p:ext uri="{BB962C8B-B14F-4D97-AF65-F5344CB8AC3E}">
        <p14:creationId xmlns:p14="http://schemas.microsoft.com/office/powerpoint/2010/main" val="44718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EA8402-814F-C4C2-2D62-7087D72D0282}"/>
              </a:ext>
            </a:extLst>
          </p:cNvPr>
          <p:cNvSpPr>
            <a:spLocks noGrp="1"/>
          </p:cNvSpPr>
          <p:nvPr>
            <p:ph type="sldNum" sz="quarter" idx="12"/>
          </p:nvPr>
        </p:nvSpPr>
        <p:spPr/>
        <p:txBody>
          <a:bodyPr/>
          <a:lstStyle/>
          <a:p>
            <a:fld id="{E89BC60F-F4BF-4EE8-9F02-8A0093F1814F}" type="slidenum">
              <a:rPr lang="en-GB" smtClean="0"/>
              <a:t>1</a:t>
            </a:fld>
            <a:endParaRPr lang="en-GB"/>
          </a:p>
        </p:txBody>
      </p:sp>
      <p:sp>
        <p:nvSpPr>
          <p:cNvPr id="13" name="Rectangle 2">
            <a:extLst>
              <a:ext uri="{FF2B5EF4-FFF2-40B4-BE49-F238E27FC236}">
                <a16:creationId xmlns:a16="http://schemas.microsoft.com/office/drawing/2014/main" id="{C761D738-0238-9728-A584-DE6B03A45983}"/>
              </a:ext>
            </a:extLst>
          </p:cNvPr>
          <p:cNvSpPr txBox="1">
            <a:spLocks noChangeArrowheads="1"/>
          </p:cNvSpPr>
          <p:nvPr/>
        </p:nvSpPr>
        <p:spPr>
          <a:xfrm>
            <a:off x="2537609" y="1282228"/>
            <a:ext cx="5200650" cy="3379254"/>
          </a:xfrm>
          <a:prstGeom prst="rect">
            <a:avLst/>
          </a:prstGeom>
          <a:noFill/>
        </p:spPr>
        <p:txBody>
          <a:bodyPr lIns="69056" tIns="34529" rIns="69056" bIns="34529"/>
          <a:lstStyle>
            <a:lvl1pPr algn="l" defTabSz="914400" rtl="0" eaLnBrk="1" latinLnBrk="0" hangingPunct="1">
              <a:lnSpc>
                <a:spcPct val="80000"/>
              </a:lnSpc>
              <a:spcBef>
                <a:spcPct val="0"/>
              </a:spcBef>
              <a:buNone/>
              <a:defRPr sz="2800" kern="1200">
                <a:solidFill>
                  <a:schemeClr val="accent1"/>
                </a:solidFill>
                <a:latin typeface="+mj-lt"/>
                <a:ea typeface="+mj-ea"/>
                <a:cs typeface="+mj-cs"/>
              </a:defRPr>
            </a:lvl1pPr>
          </a:lstStyle>
          <a:p>
            <a:br>
              <a:rPr lang="en-GB" altLang="en-US" sz="2100" i="1">
                <a:solidFill>
                  <a:schemeClr val="tx1"/>
                </a:solidFill>
              </a:rPr>
            </a:br>
            <a:endParaRPr lang="en-GB" altLang="en-US" sz="3300" dirty="0">
              <a:solidFill>
                <a:schemeClr val="tx1"/>
              </a:solidFill>
            </a:endParaRPr>
          </a:p>
        </p:txBody>
      </p:sp>
      <p:sp>
        <p:nvSpPr>
          <p:cNvPr id="14" name="Title 1">
            <a:extLst>
              <a:ext uri="{FF2B5EF4-FFF2-40B4-BE49-F238E27FC236}">
                <a16:creationId xmlns:a16="http://schemas.microsoft.com/office/drawing/2014/main" id="{2F339201-086A-60C9-9344-15E85C254FD9}"/>
              </a:ext>
            </a:extLst>
          </p:cNvPr>
          <p:cNvSpPr txBox="1">
            <a:spLocks/>
          </p:cNvSpPr>
          <p:nvPr/>
        </p:nvSpPr>
        <p:spPr>
          <a:xfrm>
            <a:off x="2271047" y="2459768"/>
            <a:ext cx="4741219" cy="1085255"/>
          </a:xfrm>
          <a:prstGeom prst="rect">
            <a:avLst/>
          </a:prstGeom>
        </p:spPr>
        <p:txBody>
          <a:bodyPr vert="horz" lIns="0" tIns="34290" rIns="0" bIns="34290" rtlCol="0" anchor="ctr">
            <a:noAutofit/>
          </a:bodyPr>
          <a:lstStyle>
            <a:lvl1pPr algn="l" defTabSz="914400" rtl="0" eaLnBrk="1" latinLnBrk="0" hangingPunct="1">
              <a:lnSpc>
                <a:spcPct val="80000"/>
              </a:lnSpc>
              <a:spcBef>
                <a:spcPct val="0"/>
              </a:spcBef>
              <a:buNone/>
              <a:defRPr sz="2800" kern="1200">
                <a:solidFill>
                  <a:schemeClr val="accent1"/>
                </a:solidFill>
                <a:latin typeface="+mj-lt"/>
                <a:ea typeface="+mj-ea"/>
                <a:cs typeface="+mj-cs"/>
              </a:defRPr>
            </a:lvl1pPr>
          </a:lstStyle>
          <a:p>
            <a:pPr algn="ctr"/>
            <a:r>
              <a:rPr lang="en-GB" sz="2700" b="1" dirty="0">
                <a:solidFill>
                  <a:srgbClr val="FF0000"/>
                </a:solidFill>
                <a:latin typeface="+mn-lt"/>
              </a:rPr>
              <a:t>Data Structures and Algorithms</a:t>
            </a:r>
          </a:p>
        </p:txBody>
      </p:sp>
      <p:pic>
        <p:nvPicPr>
          <p:cNvPr id="15" name="Picture Placeholder 7">
            <a:extLst>
              <a:ext uri="{FF2B5EF4-FFF2-40B4-BE49-F238E27FC236}">
                <a16:creationId xmlns:a16="http://schemas.microsoft.com/office/drawing/2014/main" id="{9AA9C4B2-E36A-B694-DBE9-C09B8B264C65}"/>
              </a:ext>
            </a:extLst>
          </p:cNvPr>
          <p:cNvPicPr>
            <a:picLocks noChangeAspect="1"/>
          </p:cNvPicPr>
          <p:nvPr/>
        </p:nvPicPr>
        <p:blipFill rotWithShape="1">
          <a:blip r:embed="rId3">
            <a:extLst>
              <a:ext uri="{28A0092B-C50C-407E-A947-70E740481C1C}">
                <a14:useLocalDpi xmlns:a14="http://schemas.microsoft.com/office/drawing/2010/main" val="0"/>
              </a:ext>
            </a:extLst>
          </a:blip>
          <a:srcRect t="8275" b="8275"/>
          <a:stretch/>
        </p:blipFill>
        <p:spPr>
          <a:xfrm>
            <a:off x="274320" y="1245957"/>
            <a:ext cx="6967399" cy="3453205"/>
          </a:xfrm>
          <a:custGeom>
            <a:avLst/>
            <a:gdLst>
              <a:gd name="connsiteX0" fmla="*/ 0 w 6497638"/>
              <a:gd name="connsiteY0" fmla="*/ 0 h 4604273"/>
              <a:gd name="connsiteX1" fmla="*/ 6497638 w 6497638"/>
              <a:gd name="connsiteY1" fmla="*/ 0 h 4604273"/>
              <a:gd name="connsiteX2" fmla="*/ 6497638 w 6497638"/>
              <a:gd name="connsiteY2" fmla="*/ 646150 h 4604273"/>
              <a:gd name="connsiteX3" fmla="*/ 2699316 w 6497638"/>
              <a:gd name="connsiteY3" fmla="*/ 646150 h 4604273"/>
              <a:gd name="connsiteX4" fmla="*/ 2699316 w 6497638"/>
              <a:gd name="connsiteY4" fmla="*/ 976794 h 4604273"/>
              <a:gd name="connsiteX5" fmla="*/ 1870774 w 6497638"/>
              <a:gd name="connsiteY5" fmla="*/ 976794 h 4604273"/>
              <a:gd name="connsiteX6" fmla="*/ 1870774 w 6497638"/>
              <a:gd name="connsiteY6" fmla="*/ 4414938 h 4604273"/>
              <a:gd name="connsiteX7" fmla="*/ 2699316 w 6497638"/>
              <a:gd name="connsiteY7" fmla="*/ 4414938 h 4604273"/>
              <a:gd name="connsiteX8" fmla="*/ 2699316 w 6497638"/>
              <a:gd name="connsiteY8" fmla="*/ 4604273 h 4604273"/>
              <a:gd name="connsiteX9" fmla="*/ 0 w 6497638"/>
              <a:gd name="connsiteY9" fmla="*/ 4604273 h 460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7638" h="4604273">
                <a:moveTo>
                  <a:pt x="0" y="0"/>
                </a:moveTo>
                <a:lnTo>
                  <a:pt x="6497638" y="0"/>
                </a:lnTo>
                <a:lnTo>
                  <a:pt x="6497638" y="646150"/>
                </a:lnTo>
                <a:lnTo>
                  <a:pt x="2699316" y="646150"/>
                </a:lnTo>
                <a:lnTo>
                  <a:pt x="2699316" y="976794"/>
                </a:lnTo>
                <a:lnTo>
                  <a:pt x="1870774" y="976794"/>
                </a:lnTo>
                <a:lnTo>
                  <a:pt x="1870774" y="4414938"/>
                </a:lnTo>
                <a:lnTo>
                  <a:pt x="2699316" y="4414938"/>
                </a:lnTo>
                <a:lnTo>
                  <a:pt x="2699316" y="4604273"/>
                </a:lnTo>
                <a:lnTo>
                  <a:pt x="0" y="4604273"/>
                </a:lnTo>
                <a:close/>
              </a:path>
            </a:pathLst>
          </a:custGeom>
        </p:spPr>
      </p:pic>
      <p:pic>
        <p:nvPicPr>
          <p:cNvPr id="16" name="Picture Placeholder 13">
            <a:extLst>
              <a:ext uri="{FF2B5EF4-FFF2-40B4-BE49-F238E27FC236}">
                <a16:creationId xmlns:a16="http://schemas.microsoft.com/office/drawing/2014/main" id="{10C9F6F6-2DB2-5925-6200-FCAE72FF9D3F}"/>
              </a:ext>
            </a:extLst>
          </p:cNvPr>
          <p:cNvPicPr>
            <a:picLocks noChangeAspect="1"/>
          </p:cNvPicPr>
          <p:nvPr/>
        </p:nvPicPr>
        <p:blipFill>
          <a:blip r:embed="rId4" cstate="print">
            <a:extLst>
              <a:ext uri="{28A0092B-C50C-407E-A947-70E740481C1C}">
                <a14:useLocalDpi xmlns:a14="http://schemas.microsoft.com/office/drawing/2010/main" val="0"/>
              </a:ext>
            </a:extLst>
          </a:blip>
          <a:srcRect t="8068" b="8068"/>
          <a:stretch>
            <a:fillRect/>
          </a:stretch>
        </p:blipFill>
        <p:spPr>
          <a:xfrm>
            <a:off x="3167148" y="1732360"/>
            <a:ext cx="6047470" cy="3393281"/>
          </a:xfrm>
          <a:custGeom>
            <a:avLst/>
            <a:gdLst>
              <a:gd name="connsiteX0" fmla="*/ 0 w 6045797"/>
              <a:gd name="connsiteY0" fmla="*/ 0 h 4524375"/>
              <a:gd name="connsiteX1" fmla="*/ 6045797 w 6045797"/>
              <a:gd name="connsiteY1" fmla="*/ 0 h 4524375"/>
              <a:gd name="connsiteX2" fmla="*/ 6045797 w 6045797"/>
              <a:gd name="connsiteY2" fmla="*/ 4524375 h 4524375"/>
              <a:gd name="connsiteX3" fmla="*/ 0 w 6045797"/>
              <a:gd name="connsiteY3" fmla="*/ 4524375 h 4524375"/>
              <a:gd name="connsiteX4" fmla="*/ 0 w 6045797"/>
              <a:gd name="connsiteY4" fmla="*/ 3768788 h 4524375"/>
              <a:gd name="connsiteX5" fmla="*/ 3798322 w 6045797"/>
              <a:gd name="connsiteY5" fmla="*/ 3768788 h 4524375"/>
              <a:gd name="connsiteX6" fmla="*/ 3798322 w 6045797"/>
              <a:gd name="connsiteY6" fmla="*/ 330644 h 4524375"/>
              <a:gd name="connsiteX7" fmla="*/ 0 w 6045797"/>
              <a:gd name="connsiteY7" fmla="*/ 330644 h 452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5797" h="4524375">
                <a:moveTo>
                  <a:pt x="0" y="0"/>
                </a:moveTo>
                <a:lnTo>
                  <a:pt x="6045797" y="0"/>
                </a:lnTo>
                <a:lnTo>
                  <a:pt x="6045797" y="4524375"/>
                </a:lnTo>
                <a:lnTo>
                  <a:pt x="0" y="4524375"/>
                </a:lnTo>
                <a:lnTo>
                  <a:pt x="0" y="3768788"/>
                </a:lnTo>
                <a:lnTo>
                  <a:pt x="3798322" y="3768788"/>
                </a:lnTo>
                <a:lnTo>
                  <a:pt x="3798322" y="330644"/>
                </a:lnTo>
                <a:lnTo>
                  <a:pt x="0" y="330644"/>
                </a:lnTo>
                <a:close/>
              </a:path>
            </a:pathLst>
          </a:custGeom>
        </p:spPr>
      </p:pic>
      <p:sp>
        <p:nvSpPr>
          <p:cNvPr id="17" name="Rectangle 16">
            <a:extLst>
              <a:ext uri="{FF2B5EF4-FFF2-40B4-BE49-F238E27FC236}">
                <a16:creationId xmlns:a16="http://schemas.microsoft.com/office/drawing/2014/main" id="{47B25DD8-0279-1A49-E3B0-FF47FE4D1BEE}"/>
              </a:ext>
            </a:extLst>
          </p:cNvPr>
          <p:cNvSpPr/>
          <p:nvPr/>
        </p:nvSpPr>
        <p:spPr>
          <a:xfrm>
            <a:off x="2474445" y="3232792"/>
            <a:ext cx="4486720" cy="461665"/>
          </a:xfrm>
          <a:prstGeom prst="rect">
            <a:avLst/>
          </a:prstGeom>
        </p:spPr>
        <p:txBody>
          <a:bodyPr wrap="square">
            <a:spAutoFit/>
          </a:bodyPr>
          <a:lstStyle/>
          <a:p>
            <a:pPr algn="ctr"/>
            <a:r>
              <a:rPr lang="en-GB" sz="2400" b="1" dirty="0">
                <a:solidFill>
                  <a:srgbClr val="547EE8"/>
                </a:solidFill>
              </a:rPr>
              <a:t>Assignment 3: TEAM PROJECT</a:t>
            </a:r>
          </a:p>
        </p:txBody>
      </p:sp>
    </p:spTree>
    <p:extLst>
      <p:ext uri="{BB962C8B-B14F-4D97-AF65-F5344CB8AC3E}">
        <p14:creationId xmlns:p14="http://schemas.microsoft.com/office/powerpoint/2010/main" val="1868790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Team Project Intro</a:t>
            </a:r>
          </a:p>
        </p:txBody>
      </p:sp>
      <p:sp>
        <p:nvSpPr>
          <p:cNvPr id="3" name="Content Placeholder 2"/>
          <p:cNvSpPr>
            <a:spLocks noGrp="1"/>
          </p:cNvSpPr>
          <p:nvPr>
            <p:ph idx="1"/>
          </p:nvPr>
        </p:nvSpPr>
        <p:spPr/>
        <p:txBody>
          <a:bodyPr/>
          <a:lstStyle/>
          <a:p>
            <a:r>
              <a:rPr lang="en-GB" dirty="0"/>
              <a:t>What is the project?</a:t>
            </a:r>
          </a:p>
          <a:p>
            <a:r>
              <a:rPr lang="en-GB" dirty="0"/>
              <a:t>What are the deliverables?</a:t>
            </a:r>
          </a:p>
          <a:p>
            <a:r>
              <a:rPr lang="en-GB" dirty="0"/>
              <a:t>Marking scheme</a:t>
            </a:r>
          </a:p>
          <a:p>
            <a:r>
              <a:rPr lang="en-GB" dirty="0"/>
              <a:t>Peer Review</a:t>
            </a:r>
          </a:p>
          <a:p>
            <a:r>
              <a:rPr lang="en-GB" dirty="0"/>
              <a:t>AI Declaration</a:t>
            </a:r>
          </a:p>
          <a:p>
            <a:r>
              <a:rPr lang="en-GB" dirty="0"/>
              <a:t>Team working information</a:t>
            </a:r>
          </a:p>
        </p:txBody>
      </p:sp>
    </p:spTree>
    <p:extLst>
      <p:ext uri="{BB962C8B-B14F-4D97-AF65-F5344CB8AC3E}">
        <p14:creationId xmlns:p14="http://schemas.microsoft.com/office/powerpoint/2010/main" val="3135665532"/>
      </p:ext>
    </p:extLst>
  </p:cSld>
  <p:clrMapOvr>
    <a:masterClrMapping/>
  </p:clrMapOvr>
  <mc:AlternateContent xmlns:mc="http://schemas.openxmlformats.org/markup-compatibility/2006" xmlns:p14="http://schemas.microsoft.com/office/powerpoint/2010/main">
    <mc:Choice Requires="p14">
      <p:transition spd="slow" p14:dur="2000" advTm="78984"/>
    </mc:Choice>
    <mc:Fallback xmlns="">
      <p:transition spd="slow" advTm="7898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00"/>
            <a:ext cx="8229600" cy="1143000"/>
          </a:xfrm>
        </p:spPr>
        <p:txBody>
          <a:bodyPr/>
          <a:lstStyle/>
          <a:p>
            <a:r>
              <a:rPr lang="en-GB" dirty="0"/>
              <a:t>What is the project?</a:t>
            </a:r>
          </a:p>
        </p:txBody>
      </p:sp>
      <p:sp>
        <p:nvSpPr>
          <p:cNvPr id="3" name="Content Placeholder 2"/>
          <p:cNvSpPr>
            <a:spLocks noGrp="1"/>
          </p:cNvSpPr>
          <p:nvPr>
            <p:ph idx="1"/>
          </p:nvPr>
        </p:nvSpPr>
        <p:spPr>
          <a:xfrm>
            <a:off x="457200" y="919261"/>
            <a:ext cx="8229600" cy="4525963"/>
          </a:xfrm>
        </p:spPr>
        <p:txBody>
          <a:bodyPr>
            <a:normAutofit/>
          </a:bodyPr>
          <a:lstStyle/>
          <a:p>
            <a:r>
              <a:rPr lang="en-GB" dirty="0"/>
              <a:t>To create your own social media application</a:t>
            </a:r>
          </a:p>
          <a:p>
            <a:pPr lvl="1"/>
            <a:r>
              <a:rPr lang="en-GB" dirty="0"/>
              <a:t>Could it be the next </a:t>
            </a:r>
            <a:r>
              <a:rPr lang="en-GB" dirty="0" err="1"/>
              <a:t>Snaptok</a:t>
            </a:r>
            <a:r>
              <a:rPr lang="en-GB" dirty="0"/>
              <a:t> or </a:t>
            </a:r>
            <a:r>
              <a:rPr lang="en-GB" dirty="0" err="1"/>
              <a:t>Tikstagram</a:t>
            </a:r>
            <a:r>
              <a:rPr lang="en-GB" dirty="0"/>
              <a:t>?</a:t>
            </a:r>
          </a:p>
          <a:p>
            <a:pPr lvl="1"/>
            <a:endParaRPr lang="en-GB" dirty="0"/>
          </a:p>
        </p:txBody>
      </p:sp>
      <p:pic>
        <p:nvPicPr>
          <p:cNvPr id="1026" name="Picture 2" descr="FE News | Why is Social Media important for business?">
            <a:extLst>
              <a:ext uri="{FF2B5EF4-FFF2-40B4-BE49-F238E27FC236}">
                <a16:creationId xmlns:a16="http://schemas.microsoft.com/office/drawing/2014/main" id="{389CA8C2-E09F-0B2A-D67C-C7C3EEFE2A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455" y="2191402"/>
            <a:ext cx="6284889" cy="4189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223659"/>
      </p:ext>
    </p:extLst>
  </p:cSld>
  <p:clrMapOvr>
    <a:masterClrMapping/>
  </p:clrMapOvr>
  <mc:AlternateContent xmlns:mc="http://schemas.openxmlformats.org/markup-compatibility/2006" xmlns:p14="http://schemas.microsoft.com/office/powerpoint/2010/main">
    <mc:Choice Requires="p14">
      <p:transition spd="slow" p14:dur="2000" advTm="35765"/>
    </mc:Choice>
    <mc:Fallback xmlns="">
      <p:transition spd="slow" advTm="3576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43000"/>
          </a:xfrm>
        </p:spPr>
        <p:txBody>
          <a:bodyPr/>
          <a:lstStyle/>
          <a:p>
            <a:r>
              <a:rPr lang="en-GB" dirty="0"/>
              <a:t>Main requirements</a:t>
            </a:r>
          </a:p>
        </p:txBody>
      </p:sp>
      <p:sp>
        <p:nvSpPr>
          <p:cNvPr id="3" name="Content Placeholder 2"/>
          <p:cNvSpPr>
            <a:spLocks noGrp="1"/>
          </p:cNvSpPr>
          <p:nvPr>
            <p:ph idx="1"/>
          </p:nvPr>
        </p:nvSpPr>
        <p:spPr>
          <a:xfrm>
            <a:off x="457200" y="1279301"/>
            <a:ext cx="8229600" cy="5246043"/>
          </a:xfrm>
        </p:spPr>
        <p:txBody>
          <a:bodyPr>
            <a:noAutofit/>
          </a:bodyPr>
          <a:lstStyle/>
          <a:p>
            <a:pPr lvl="0"/>
            <a:r>
              <a:rPr lang="en-GB" sz="2000" dirty="0"/>
              <a:t>Your program will store a collection of friends – you, and others</a:t>
            </a:r>
          </a:p>
          <a:p>
            <a:pPr lvl="0"/>
            <a:r>
              <a:rPr lang="en-GB" sz="2000" dirty="0"/>
              <a:t>Each friend/user has a profile with their name, ID, hometown, and workplace</a:t>
            </a:r>
          </a:p>
          <a:p>
            <a:pPr lvl="0"/>
            <a:r>
              <a:rPr lang="en-GB" sz="2000" dirty="0"/>
              <a:t>You will have a list of friends</a:t>
            </a:r>
          </a:p>
          <a:p>
            <a:pPr lvl="0"/>
            <a:r>
              <a:rPr lang="en-GB" sz="2000" dirty="0"/>
              <a:t>Your friends will have their own friends in turn, including each other and you</a:t>
            </a:r>
          </a:p>
          <a:p>
            <a:pPr lvl="0"/>
            <a:r>
              <a:rPr lang="en-GB" sz="2000" dirty="0"/>
              <a:t>Data for your network will be held in a file (all friends / users and their inter-connections)</a:t>
            </a:r>
          </a:p>
          <a:p>
            <a:pPr lvl="1"/>
            <a:r>
              <a:rPr lang="en-GB" sz="1600" dirty="0"/>
              <a:t>You can manually define the data in the file to provide a ready-made network</a:t>
            </a:r>
          </a:p>
          <a:p>
            <a:pPr lvl="1"/>
            <a:r>
              <a:rPr lang="en-GB" sz="1600" dirty="0"/>
              <a:t>You may consider the possibility of allowing people to add or remove friends through your program (but this isn’t mandatory, it would be an added extra).</a:t>
            </a:r>
          </a:p>
          <a:p>
            <a:r>
              <a:rPr lang="en-GB" sz="2000" dirty="0"/>
              <a:t>You program should load the ready-made network from the file into an in-memory representation, ensuring all links and connections are correct. </a:t>
            </a:r>
          </a:p>
          <a:p>
            <a:r>
              <a:rPr lang="en-GB" sz="2000" dirty="0"/>
              <a:t>When loaded, the program can present you with your profile along with options about what to do, e.g., edit profile, view friends</a:t>
            </a:r>
          </a:p>
        </p:txBody>
      </p:sp>
    </p:spTree>
    <p:extLst>
      <p:ext uri="{BB962C8B-B14F-4D97-AF65-F5344CB8AC3E}">
        <p14:creationId xmlns:p14="http://schemas.microsoft.com/office/powerpoint/2010/main" val="3947417618"/>
      </p:ext>
    </p:extLst>
  </p:cSld>
  <p:clrMapOvr>
    <a:masterClrMapping/>
  </p:clrMapOvr>
  <mc:AlternateContent xmlns:mc="http://schemas.openxmlformats.org/markup-compatibility/2006" xmlns:p14="http://schemas.microsoft.com/office/powerpoint/2010/main">
    <mc:Choice Requires="p14">
      <p:transition spd="slow" p14:dur="2000" advTm="173675"/>
    </mc:Choice>
    <mc:Fallback xmlns="">
      <p:transition spd="slow" advTm="17367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43000"/>
          </a:xfrm>
        </p:spPr>
        <p:txBody>
          <a:bodyPr/>
          <a:lstStyle/>
          <a:p>
            <a:r>
              <a:rPr lang="en-GB" dirty="0"/>
              <a:t>Main requirements (2)</a:t>
            </a:r>
          </a:p>
        </p:txBody>
      </p:sp>
      <p:sp>
        <p:nvSpPr>
          <p:cNvPr id="3" name="Content Placeholder 2"/>
          <p:cNvSpPr>
            <a:spLocks noGrp="1"/>
          </p:cNvSpPr>
          <p:nvPr>
            <p:ph idx="1"/>
          </p:nvPr>
        </p:nvSpPr>
        <p:spPr>
          <a:xfrm>
            <a:off x="457200" y="1279301"/>
            <a:ext cx="8229600" cy="5246043"/>
          </a:xfrm>
        </p:spPr>
        <p:txBody>
          <a:bodyPr>
            <a:noAutofit/>
          </a:bodyPr>
          <a:lstStyle/>
          <a:p>
            <a:pPr lvl="0"/>
            <a:r>
              <a:rPr lang="en-GB" sz="2000" dirty="0"/>
              <a:t>You can display a list of all your friends</a:t>
            </a:r>
          </a:p>
          <a:p>
            <a:pPr lvl="0"/>
            <a:r>
              <a:rPr lang="en-GB" sz="2000" dirty="0"/>
              <a:t>You can filter your friends, e.g., show those with the same workplace or hometown as you</a:t>
            </a:r>
          </a:p>
          <a:p>
            <a:pPr lvl="1"/>
            <a:r>
              <a:rPr lang="en-GB" sz="1600" dirty="0"/>
              <a:t>Extra: search for all friends with certain letters in their name, e.g., all friends with ‘</a:t>
            </a:r>
            <a:r>
              <a:rPr lang="en-GB" sz="1600" dirty="0" err="1"/>
              <a:t>smi</a:t>
            </a:r>
            <a:r>
              <a:rPr lang="en-GB" sz="1600" dirty="0"/>
              <a:t>’</a:t>
            </a:r>
          </a:p>
          <a:p>
            <a:r>
              <a:rPr lang="en-GB" sz="2000" dirty="0"/>
              <a:t>You should be able to select one of the friends in your list to view their profile and view their list of friends too</a:t>
            </a:r>
          </a:p>
          <a:p>
            <a:r>
              <a:rPr lang="en-GB" sz="2000" dirty="0"/>
              <a:t>When viewing a list of your friend’s friends, you can choose to add one to your own friend list</a:t>
            </a:r>
          </a:p>
          <a:p>
            <a:r>
              <a:rPr lang="en-GB" sz="2000" dirty="0"/>
              <a:t>When viewing a list of your friend’s friends, you can filter the display to show any friends that you (already) have in common</a:t>
            </a:r>
          </a:p>
          <a:p>
            <a:r>
              <a:rPr lang="en-GB" sz="2000" dirty="0"/>
              <a:t>Look for friend recommendations: the ability to search through one (or all) of your friend’s friends to determine any that have the same hometown or workplace as you that aren’t already your friend but could be</a:t>
            </a:r>
          </a:p>
          <a:p>
            <a:r>
              <a:rPr lang="en-GB" sz="2000" dirty="0"/>
              <a:t>The ability to save your social network to a file on disk and have it reinstated successfully.</a:t>
            </a:r>
          </a:p>
          <a:p>
            <a:r>
              <a:rPr lang="en-GB" sz="2000" dirty="0"/>
              <a:t>A (text-based) menu OR GUI system to facilitate the above</a:t>
            </a:r>
          </a:p>
        </p:txBody>
      </p:sp>
    </p:spTree>
    <p:extLst>
      <p:ext uri="{BB962C8B-B14F-4D97-AF65-F5344CB8AC3E}">
        <p14:creationId xmlns:p14="http://schemas.microsoft.com/office/powerpoint/2010/main" val="797901143"/>
      </p:ext>
    </p:extLst>
  </p:cSld>
  <p:clrMapOvr>
    <a:masterClrMapping/>
  </p:clrMapOvr>
  <mc:AlternateContent xmlns:mc="http://schemas.openxmlformats.org/markup-compatibility/2006" xmlns:p14="http://schemas.microsoft.com/office/powerpoint/2010/main">
    <mc:Choice Requires="p14">
      <p:transition spd="slow" p14:dur="2000" advTm="173675"/>
    </mc:Choice>
    <mc:Fallback xmlns="">
      <p:transition spd="slow" advTm="17367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Added extras</a:t>
            </a:r>
          </a:p>
        </p:txBody>
      </p:sp>
      <p:sp>
        <p:nvSpPr>
          <p:cNvPr id="3" name="Content Placeholder 2"/>
          <p:cNvSpPr>
            <a:spLocks noGrp="1"/>
          </p:cNvSpPr>
          <p:nvPr>
            <p:ph idx="1"/>
          </p:nvPr>
        </p:nvSpPr>
        <p:spPr/>
        <p:txBody>
          <a:bodyPr>
            <a:normAutofit fontScale="92500" lnSpcReduction="10000"/>
          </a:bodyPr>
          <a:lstStyle/>
          <a:p>
            <a:pPr lvl="0"/>
            <a:r>
              <a:rPr lang="en-GB" dirty="0"/>
              <a:t>You will be given additional credit for any other reasonable extensions to your completion, for example</a:t>
            </a:r>
          </a:p>
          <a:p>
            <a:pPr lvl="1"/>
            <a:r>
              <a:rPr lang="en-GB" dirty="0"/>
              <a:t>Allowing you or friends to make ‘posts’ and have ‘likes’</a:t>
            </a:r>
          </a:p>
          <a:p>
            <a:pPr lvl="1"/>
            <a:r>
              <a:rPr lang="en-GB" dirty="0"/>
              <a:t>Being able to add or remove users from the network</a:t>
            </a:r>
          </a:p>
          <a:p>
            <a:pPr lvl="1"/>
            <a:r>
              <a:rPr lang="en-GB" dirty="0"/>
              <a:t>Considering the efficiency of certain queries in your choice of data structures and algorithms</a:t>
            </a:r>
          </a:p>
          <a:p>
            <a:pPr lvl="1"/>
            <a:r>
              <a:rPr lang="en-GB" dirty="0"/>
              <a:t>Any other sensible addition. Please ask if you are unsure.</a:t>
            </a:r>
          </a:p>
          <a:p>
            <a:endParaRPr lang="en-GB" dirty="0"/>
          </a:p>
        </p:txBody>
      </p:sp>
    </p:spTree>
    <p:extLst>
      <p:ext uri="{BB962C8B-B14F-4D97-AF65-F5344CB8AC3E}">
        <p14:creationId xmlns:p14="http://schemas.microsoft.com/office/powerpoint/2010/main" val="1791424094"/>
      </p:ext>
    </p:extLst>
  </p:cSld>
  <p:clrMapOvr>
    <a:masterClrMapping/>
  </p:clrMapOvr>
  <mc:AlternateContent xmlns:mc="http://schemas.openxmlformats.org/markup-compatibility/2006" xmlns:p14="http://schemas.microsoft.com/office/powerpoint/2010/main">
    <mc:Choice Requires="p14">
      <p:transition spd="slow" p14:dur="2000" advTm="30008"/>
    </mc:Choice>
    <mc:Fallback xmlns="">
      <p:transition spd="slow" advTm="3000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00"/>
            <a:ext cx="8229600" cy="1143000"/>
          </a:xfrm>
        </p:spPr>
        <p:txBody>
          <a:bodyPr/>
          <a:lstStyle/>
          <a:p>
            <a:r>
              <a:rPr lang="en-GB" dirty="0"/>
              <a:t>Deliverables</a:t>
            </a:r>
          </a:p>
        </p:txBody>
      </p:sp>
      <p:sp>
        <p:nvSpPr>
          <p:cNvPr id="3" name="Content Placeholder 2"/>
          <p:cNvSpPr>
            <a:spLocks noGrp="1"/>
          </p:cNvSpPr>
          <p:nvPr>
            <p:ph idx="1"/>
          </p:nvPr>
        </p:nvSpPr>
        <p:spPr>
          <a:xfrm>
            <a:off x="444857" y="404664"/>
            <a:ext cx="8229600" cy="5760640"/>
          </a:xfrm>
        </p:spPr>
        <p:txBody>
          <a:bodyPr>
            <a:noAutofit/>
          </a:bodyPr>
          <a:lstStyle/>
          <a:p>
            <a:pPr lvl="8"/>
            <a:endParaRPr lang="en-GB" sz="1400" dirty="0"/>
          </a:p>
          <a:p>
            <a:pPr lvl="1">
              <a:buFont typeface="Arial" panose="020B0604020202020204" pitchFamily="34" charset="0"/>
              <a:buChar char="•"/>
            </a:pPr>
            <a:r>
              <a:rPr lang="en-GB" sz="2400" b="1" dirty="0"/>
              <a:t>Report:</a:t>
            </a:r>
          </a:p>
          <a:p>
            <a:pPr lvl="1"/>
            <a:r>
              <a:rPr lang="en-GB" sz="1800" dirty="0"/>
              <a:t>Due Friday 19</a:t>
            </a:r>
            <a:r>
              <a:rPr lang="en-GB" sz="1800" baseline="30000" dirty="0"/>
              <a:t>th</a:t>
            </a:r>
            <a:r>
              <a:rPr lang="en-GB" sz="1800" dirty="0"/>
              <a:t>  of June @ 23.59</a:t>
            </a:r>
          </a:p>
          <a:p>
            <a:pPr lvl="1"/>
            <a:r>
              <a:rPr lang="en-GB" sz="1800" dirty="0"/>
              <a:t>Introduction, outline of requirements</a:t>
            </a:r>
          </a:p>
          <a:p>
            <a:pPr lvl="1"/>
            <a:r>
              <a:rPr lang="en-GB" sz="1800" dirty="0"/>
              <a:t>Initial designs (classes, user interface)</a:t>
            </a:r>
          </a:p>
          <a:p>
            <a:pPr lvl="1"/>
            <a:r>
              <a:rPr lang="en-GB" sz="1800" dirty="0"/>
              <a:t>Discussion and selection of data structures being used</a:t>
            </a:r>
          </a:p>
          <a:p>
            <a:pPr lvl="1"/>
            <a:r>
              <a:rPr lang="en-GB" sz="1800" dirty="0"/>
              <a:t>Member contributions</a:t>
            </a:r>
          </a:p>
          <a:p>
            <a:pPr lvl="1"/>
            <a:endParaRPr lang="en-GB" sz="1800" dirty="0"/>
          </a:p>
          <a:p>
            <a:pPr marL="457200" lvl="1" indent="0">
              <a:buNone/>
            </a:pPr>
            <a:endParaRPr lang="en-GB" sz="1800" dirty="0"/>
          </a:p>
          <a:p>
            <a:pPr lvl="1">
              <a:buFont typeface="Arial" panose="020B0604020202020204" pitchFamily="34" charset="0"/>
              <a:buChar char="•"/>
            </a:pPr>
            <a:r>
              <a:rPr lang="en-GB" sz="2400" b="1" dirty="0"/>
              <a:t>Your program</a:t>
            </a:r>
          </a:p>
          <a:p>
            <a:pPr lvl="2"/>
            <a:r>
              <a:rPr lang="en-GB" sz="1400" dirty="0"/>
              <a:t>Source code, JAR file</a:t>
            </a:r>
          </a:p>
          <a:p>
            <a:pPr marL="914400" lvl="2" indent="0">
              <a:buNone/>
            </a:pPr>
            <a:endParaRPr lang="en-GB" sz="1400" dirty="0"/>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2400" b="1" i="0" u="none" strike="noStrike" kern="1200" cap="none" spc="0" normalizeH="0" baseline="0" noProof="0" dirty="0">
                <a:ln>
                  <a:noFill/>
                </a:ln>
                <a:solidFill>
                  <a:prstClr val="black"/>
                </a:solidFill>
                <a:effectLst/>
                <a:uLnTx/>
                <a:uFillTx/>
                <a:latin typeface="Calibri"/>
                <a:ea typeface="+mn-ea"/>
                <a:cs typeface="+mn-cs"/>
              </a:rPr>
              <a:t>Presentations</a:t>
            </a:r>
          </a:p>
          <a:p>
            <a:pPr lvl="2"/>
            <a:r>
              <a:rPr lang="en-GB" sz="1400" dirty="0"/>
              <a:t>Will take place on Monday, Tuesday, and Wednesday, 12</a:t>
            </a:r>
            <a:r>
              <a:rPr lang="en-GB" sz="1400" baseline="30000" dirty="0"/>
              <a:t>th</a:t>
            </a:r>
            <a:r>
              <a:rPr lang="en-GB" sz="1400" dirty="0"/>
              <a:t>  to 14</a:t>
            </a:r>
            <a:r>
              <a:rPr lang="en-GB" sz="1400" baseline="30000" dirty="0"/>
              <a:t>th</a:t>
            </a:r>
            <a:r>
              <a:rPr lang="en-GB" sz="1400" dirty="0"/>
              <a:t> of June</a:t>
            </a:r>
          </a:p>
          <a:p>
            <a:pPr marL="914400" lvl="2" indent="0">
              <a:buNone/>
            </a:pPr>
            <a:endParaRPr lang="en-GB" sz="1400" dirty="0"/>
          </a:p>
        </p:txBody>
      </p:sp>
    </p:spTree>
    <p:extLst>
      <p:ext uri="{BB962C8B-B14F-4D97-AF65-F5344CB8AC3E}">
        <p14:creationId xmlns:p14="http://schemas.microsoft.com/office/powerpoint/2010/main" val="4279063006"/>
      </p:ext>
    </p:extLst>
  </p:cSld>
  <p:clrMapOvr>
    <a:masterClrMapping/>
  </p:clrMapOvr>
  <mc:AlternateContent xmlns:mc="http://schemas.openxmlformats.org/markup-compatibility/2006" xmlns:p14="http://schemas.microsoft.com/office/powerpoint/2010/main">
    <mc:Choice Requires="p14">
      <p:transition spd="slow" p14:dur="2000" advTm="114786"/>
    </mc:Choice>
    <mc:Fallback xmlns="">
      <p:transition spd="slow" advTm="11478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Marking scheme</a:t>
            </a:r>
          </a:p>
        </p:txBody>
      </p:sp>
      <p:graphicFrame>
        <p:nvGraphicFramePr>
          <p:cNvPr id="3" name="Table 2"/>
          <p:cNvGraphicFramePr>
            <a:graphicFrameLocks noGrp="1"/>
          </p:cNvGraphicFramePr>
          <p:nvPr>
            <p:extLst>
              <p:ext uri="{D42A27DB-BD31-4B8C-83A1-F6EECF244321}">
                <p14:modId xmlns:p14="http://schemas.microsoft.com/office/powerpoint/2010/main" val="2808120105"/>
              </p:ext>
            </p:extLst>
          </p:nvPr>
        </p:nvGraphicFramePr>
        <p:xfrm>
          <a:off x="661989" y="1449651"/>
          <a:ext cx="8003232" cy="4447699"/>
        </p:xfrm>
        <a:graphic>
          <a:graphicData uri="http://schemas.openxmlformats.org/drawingml/2006/table">
            <a:tbl>
              <a:tblPr firstRow="1" firstCol="1" bandRow="1">
                <a:tableStyleId>{5C22544A-7EE6-4342-B048-85BDC9FD1C3A}</a:tableStyleId>
              </a:tblPr>
              <a:tblGrid>
                <a:gridCol w="5590010">
                  <a:extLst>
                    <a:ext uri="{9D8B030D-6E8A-4147-A177-3AD203B41FA5}">
                      <a16:colId xmlns:a16="http://schemas.microsoft.com/office/drawing/2014/main" val="20000"/>
                    </a:ext>
                  </a:extLst>
                </a:gridCol>
                <a:gridCol w="2413222">
                  <a:extLst>
                    <a:ext uri="{9D8B030D-6E8A-4147-A177-3AD203B41FA5}">
                      <a16:colId xmlns:a16="http://schemas.microsoft.com/office/drawing/2014/main" val="20001"/>
                    </a:ext>
                  </a:extLst>
                </a:gridCol>
              </a:tblGrid>
              <a:tr h="280989">
                <a:tc>
                  <a:txBody>
                    <a:bodyPr/>
                    <a:lstStyle/>
                    <a:p>
                      <a:pPr>
                        <a:lnSpc>
                          <a:spcPct val="115000"/>
                        </a:lnSpc>
                        <a:spcAft>
                          <a:spcPts val="1000"/>
                        </a:spcAft>
                      </a:pPr>
                      <a:r>
                        <a:rPr lang="en-GB" sz="2400" dirty="0">
                          <a:solidFill>
                            <a:srgbClr val="FFFF00"/>
                          </a:solidFill>
                          <a:effectLst/>
                        </a:rPr>
                        <a:t>Core Requirements</a:t>
                      </a:r>
                      <a:br>
                        <a:rPr lang="en-GB" sz="2400" dirty="0">
                          <a:effectLst/>
                          <a:latin typeface="Calibri" panose="020F0502020204030204" pitchFamily="34" charset="0"/>
                          <a:cs typeface="Times New Roman" panose="02020603050405020304" pitchFamily="18" charset="0"/>
                        </a:rPr>
                      </a:br>
                      <a:r>
                        <a:rPr lang="en-GB" sz="2400" b="0" i="1" dirty="0">
                          <a:solidFill>
                            <a:schemeClr val="tx1"/>
                          </a:solidFill>
                          <a:effectLst/>
                          <a:latin typeface="Calibri" panose="020F0502020204030204" pitchFamily="34" charset="0"/>
                          <a:cs typeface="Times New Roman" panose="02020603050405020304" pitchFamily="18" charset="0"/>
                        </a:rPr>
                        <a:t>Implementation of core data structures and queries with text-based menu system.</a:t>
                      </a:r>
                      <a:endParaRPr lang="en-GB" sz="2400" dirty="0">
                        <a:solidFill>
                          <a:schemeClr val="tx1"/>
                        </a:solidFill>
                        <a:effectLst/>
                      </a:endParaRPr>
                    </a:p>
                  </a:txBody>
                  <a:tcPr marL="68580" marR="68580" marT="0" marB="0">
                    <a:solidFill>
                      <a:schemeClr val="tx2">
                        <a:lumMod val="40000"/>
                        <a:lumOff val="60000"/>
                      </a:schemeClr>
                    </a:solidFill>
                  </a:tcPr>
                </a:tc>
                <a:tc>
                  <a:txBody>
                    <a:bodyPr/>
                    <a:lstStyle/>
                    <a:p>
                      <a:pPr algn="r">
                        <a:lnSpc>
                          <a:spcPct val="115000"/>
                        </a:lnSpc>
                        <a:spcAft>
                          <a:spcPts val="1000"/>
                        </a:spcAft>
                      </a:pPr>
                      <a:r>
                        <a:rPr lang="en-GB" sz="2400" b="1" dirty="0">
                          <a:solidFill>
                            <a:schemeClr val="tx1"/>
                          </a:solidFill>
                          <a:effectLst/>
                        </a:rPr>
                        <a:t>out of 30 marks</a:t>
                      </a:r>
                      <a:endParaRPr lang="en-GB"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1176546">
                <a:tc>
                  <a:txBody>
                    <a:bodyPr/>
                    <a:lstStyle/>
                    <a:p>
                      <a:pPr>
                        <a:lnSpc>
                          <a:spcPct val="115000"/>
                        </a:lnSpc>
                        <a:spcAft>
                          <a:spcPts val="1000"/>
                        </a:spcAft>
                      </a:pPr>
                      <a:r>
                        <a:rPr lang="en-GB" sz="2400" dirty="0">
                          <a:solidFill>
                            <a:srgbClr val="FFFF00"/>
                          </a:solidFill>
                          <a:effectLst/>
                        </a:rPr>
                        <a:t>Extra features </a:t>
                      </a:r>
                      <a:br>
                        <a:rPr lang="en-GB" sz="2400" dirty="0">
                          <a:effectLst/>
                        </a:rPr>
                      </a:br>
                      <a:r>
                        <a:rPr lang="en-GB" sz="2400" b="0" i="1" dirty="0">
                          <a:effectLst/>
                        </a:rPr>
                        <a:t>E.g., GUI, other features.</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40000"/>
                        <a:lumOff val="60000"/>
                      </a:schemeClr>
                    </a:solidFill>
                  </a:tcPr>
                </a:tc>
                <a:tc>
                  <a:txBody>
                    <a:bodyPr/>
                    <a:lstStyle/>
                    <a:p>
                      <a:pPr algn="r">
                        <a:lnSpc>
                          <a:spcPct val="115000"/>
                        </a:lnSpc>
                        <a:spcAft>
                          <a:spcPts val="1000"/>
                        </a:spcAft>
                      </a:pPr>
                      <a:r>
                        <a:rPr lang="en-GB" sz="2400" b="1" dirty="0">
                          <a:solidFill>
                            <a:schemeClr val="tx1"/>
                          </a:solidFill>
                          <a:effectLst/>
                        </a:rPr>
                        <a:t>Up to 5 marks</a:t>
                      </a:r>
                      <a:endParaRPr lang="en-GB"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1565197">
                <a:tc>
                  <a:txBody>
                    <a:bodyPr/>
                    <a:lstStyle/>
                    <a:p>
                      <a:pPr>
                        <a:lnSpc>
                          <a:spcPct val="115000"/>
                        </a:lnSpc>
                        <a:spcAft>
                          <a:spcPts val="1000"/>
                        </a:spcAft>
                      </a:pPr>
                      <a:r>
                        <a:rPr lang="en-GB" sz="2400" dirty="0">
                          <a:solidFill>
                            <a:srgbClr val="FFFF00"/>
                          </a:solidFill>
                          <a:effectLst/>
                        </a:rPr>
                        <a:t>Report(s)</a:t>
                      </a:r>
                      <a:br>
                        <a:rPr lang="en-GB" sz="2400" dirty="0">
                          <a:effectLst/>
                        </a:rPr>
                      </a:br>
                      <a:r>
                        <a:rPr lang="en-GB" sz="2400" b="0" i="1" dirty="0">
                          <a:effectLst/>
                        </a:rPr>
                        <a:t>Final Report (10%)</a:t>
                      </a:r>
                      <a:endParaRPr lang="en-GB" sz="2400" dirty="0">
                        <a:effectLst/>
                      </a:endParaRPr>
                    </a:p>
                  </a:txBody>
                  <a:tcPr marL="68580" marR="68580" marT="0" marB="0">
                    <a:solidFill>
                      <a:schemeClr val="tx2">
                        <a:lumMod val="40000"/>
                        <a:lumOff val="60000"/>
                      </a:schemeClr>
                    </a:solidFill>
                  </a:tcPr>
                </a:tc>
                <a:tc>
                  <a:txBody>
                    <a:bodyPr/>
                    <a:lstStyle/>
                    <a:p>
                      <a:pPr algn="r">
                        <a:lnSpc>
                          <a:spcPct val="115000"/>
                        </a:lnSpc>
                        <a:spcAft>
                          <a:spcPts val="1000"/>
                        </a:spcAft>
                      </a:pPr>
                      <a:r>
                        <a:rPr lang="en-GB" sz="2400" b="1" dirty="0">
                          <a:solidFill>
                            <a:schemeClr val="tx1"/>
                          </a:solidFill>
                          <a:effectLst/>
                        </a:rPr>
                        <a:t>out of 30 marks</a:t>
                      </a:r>
                      <a:endParaRPr lang="en-GB"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468785">
                <a:tc>
                  <a:txBody>
                    <a:bodyPr/>
                    <a:lstStyle/>
                    <a:p>
                      <a:pPr>
                        <a:lnSpc>
                          <a:spcPct val="115000"/>
                        </a:lnSpc>
                        <a:spcAft>
                          <a:spcPts val="1000"/>
                        </a:spcAft>
                      </a:pPr>
                      <a:r>
                        <a:rPr lang="en-GB" sz="2400" dirty="0">
                          <a:solidFill>
                            <a:srgbClr val="FFFF00"/>
                          </a:solidFill>
                          <a:effectLst/>
                        </a:rPr>
                        <a:t>Presentation</a:t>
                      </a:r>
                      <a:endParaRPr lang="en-GB" sz="24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2">
                        <a:lumMod val="40000"/>
                        <a:lumOff val="60000"/>
                      </a:schemeClr>
                    </a:solidFill>
                  </a:tcPr>
                </a:tc>
                <a:tc>
                  <a:txBody>
                    <a:bodyPr/>
                    <a:lstStyle/>
                    <a:p>
                      <a:pPr algn="r">
                        <a:lnSpc>
                          <a:spcPct val="115000"/>
                        </a:lnSpc>
                        <a:spcAft>
                          <a:spcPts val="1000"/>
                        </a:spcAft>
                      </a:pPr>
                      <a:r>
                        <a:rPr lang="en-GB" sz="2400" b="1" dirty="0">
                          <a:solidFill>
                            <a:schemeClr val="tx1"/>
                          </a:solidFill>
                          <a:effectLst/>
                        </a:rPr>
                        <a:t>out of 15 marks</a:t>
                      </a:r>
                      <a:endParaRPr lang="en-GB"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lumMod val="95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35091223"/>
      </p:ext>
    </p:extLst>
  </p:cSld>
  <p:clrMapOvr>
    <a:masterClrMapping/>
  </p:clrMapOvr>
  <mc:AlternateContent xmlns:mc="http://schemas.openxmlformats.org/markup-compatibility/2006" xmlns:p14="http://schemas.microsoft.com/office/powerpoint/2010/main">
    <mc:Choice Requires="p14">
      <p:transition spd="slow" p14:dur="2000" advTm="39143"/>
    </mc:Choice>
    <mc:Fallback xmlns="">
      <p:transition spd="slow" advTm="3914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Peer Review</a:t>
            </a:r>
          </a:p>
        </p:txBody>
      </p:sp>
      <p:sp>
        <p:nvSpPr>
          <p:cNvPr id="3" name="Content Placeholder 2"/>
          <p:cNvSpPr>
            <a:spLocks noGrp="1"/>
          </p:cNvSpPr>
          <p:nvPr>
            <p:ph idx="1"/>
          </p:nvPr>
        </p:nvSpPr>
        <p:spPr/>
        <p:txBody>
          <a:bodyPr>
            <a:normAutofit fontScale="70000" lnSpcReduction="20000"/>
          </a:bodyPr>
          <a:lstStyle/>
          <a:p>
            <a:r>
              <a:rPr lang="en-GB" dirty="0"/>
              <a:t>All team members are expected to contribute to the task</a:t>
            </a:r>
          </a:p>
          <a:p>
            <a:pPr lvl="1"/>
            <a:r>
              <a:rPr lang="en-GB" dirty="0"/>
              <a:t>All team members need to be allocated significant programming tasks</a:t>
            </a:r>
          </a:p>
          <a:p>
            <a:pPr lvl="8"/>
            <a:endParaRPr lang="en-GB" dirty="0"/>
          </a:p>
          <a:p>
            <a:r>
              <a:rPr lang="en-GB" dirty="0"/>
              <a:t>At the end of the project each team member should submit a peer review</a:t>
            </a:r>
          </a:p>
          <a:p>
            <a:pPr lvl="1"/>
            <a:r>
              <a:rPr lang="en-GB" dirty="0"/>
              <a:t>describes the contributions made by themselves and others to the team work and a rating for that contribution</a:t>
            </a:r>
          </a:p>
          <a:p>
            <a:pPr lvl="8"/>
            <a:endParaRPr lang="en-GB" dirty="0"/>
          </a:p>
          <a:p>
            <a:r>
              <a:rPr lang="en-GB" dirty="0"/>
              <a:t>Marks *may* be deducted for poor teamwork.</a:t>
            </a:r>
          </a:p>
          <a:p>
            <a:pPr lvl="1"/>
            <a:r>
              <a:rPr lang="en-GB" dirty="0"/>
              <a:t>E.g. not working together as a team</a:t>
            </a:r>
          </a:p>
          <a:p>
            <a:pPr lvl="1"/>
            <a:r>
              <a:rPr lang="en-GB" dirty="0"/>
              <a:t>Not allocating appropriate tasks to all team members</a:t>
            </a:r>
          </a:p>
          <a:p>
            <a:pPr lvl="1"/>
            <a:r>
              <a:rPr lang="en-GB" dirty="0"/>
              <a:t>Not supporting each other </a:t>
            </a:r>
          </a:p>
          <a:p>
            <a:pPr lvl="8"/>
            <a:endParaRPr lang="en-GB" dirty="0"/>
          </a:p>
          <a:p>
            <a:r>
              <a:rPr lang="en-GB" dirty="0"/>
              <a:t>Will use the online Peer Review system</a:t>
            </a:r>
          </a:p>
        </p:txBody>
      </p:sp>
    </p:spTree>
    <p:extLst>
      <p:ext uri="{BB962C8B-B14F-4D97-AF65-F5344CB8AC3E}">
        <p14:creationId xmlns:p14="http://schemas.microsoft.com/office/powerpoint/2010/main" val="2844005699"/>
      </p:ext>
    </p:extLst>
  </p:cSld>
  <p:clrMapOvr>
    <a:masterClrMapping/>
  </p:clrMapOvr>
  <mc:AlternateContent xmlns:mc="http://schemas.openxmlformats.org/markup-compatibility/2006" xmlns:p14="http://schemas.microsoft.com/office/powerpoint/2010/main">
    <mc:Choice Requires="p14">
      <p:transition spd="slow" p14:dur="2000" advTm="89588"/>
    </mc:Choice>
    <mc:Fallback xmlns="">
      <p:transition spd="slow" advTm="8958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Team Allocations</a:t>
            </a:r>
          </a:p>
        </p:txBody>
      </p:sp>
      <p:sp>
        <p:nvSpPr>
          <p:cNvPr id="3" name="Content Placeholder 2"/>
          <p:cNvSpPr>
            <a:spLocks noGrp="1"/>
          </p:cNvSpPr>
          <p:nvPr>
            <p:ph idx="1"/>
          </p:nvPr>
        </p:nvSpPr>
        <p:spPr>
          <a:xfrm>
            <a:off x="457200" y="1600201"/>
            <a:ext cx="8229600" cy="2548880"/>
          </a:xfrm>
        </p:spPr>
        <p:txBody>
          <a:bodyPr>
            <a:normAutofit/>
          </a:bodyPr>
          <a:lstStyle/>
          <a:p>
            <a:r>
              <a:rPr lang="en-GB" dirty="0"/>
              <a:t>Teams have been allocated to all students</a:t>
            </a:r>
          </a:p>
          <a:p>
            <a:pPr lvl="1"/>
            <a:r>
              <a:rPr lang="en-GB" dirty="0"/>
              <a:t>Group Assigned document upload on MyDundee</a:t>
            </a:r>
          </a:p>
          <a:p>
            <a:r>
              <a:rPr lang="en-GB" dirty="0"/>
              <a:t>Students will work in a group of 3</a:t>
            </a:r>
          </a:p>
          <a:p>
            <a:endParaRPr lang="en-GB" dirty="0"/>
          </a:p>
          <a:p>
            <a:pPr marL="3657600" lvl="8" indent="0">
              <a:buNone/>
            </a:pPr>
            <a:endParaRPr lang="en-GB" dirty="0"/>
          </a:p>
          <a:p>
            <a:pPr marL="457200" lvl="1" indent="0">
              <a:buNone/>
            </a:pPr>
            <a:endParaRPr lang="en-GB" dirty="0"/>
          </a:p>
        </p:txBody>
      </p:sp>
    </p:spTree>
    <p:extLst>
      <p:ext uri="{BB962C8B-B14F-4D97-AF65-F5344CB8AC3E}">
        <p14:creationId xmlns:p14="http://schemas.microsoft.com/office/powerpoint/2010/main" val="69341758"/>
      </p:ext>
    </p:extLst>
  </p:cSld>
  <p:clrMapOvr>
    <a:masterClrMapping/>
  </p:clrMapOvr>
  <mc:AlternateContent xmlns:mc="http://schemas.openxmlformats.org/markup-compatibility/2006" xmlns:p14="http://schemas.microsoft.com/office/powerpoint/2010/main">
    <mc:Choice Requires="p14">
      <p:transition spd="slow" p14:dur="2000" advTm="113017"/>
    </mc:Choice>
    <mc:Fallback xmlns="">
      <p:transition spd="slow" advTm="11301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Team working</a:t>
            </a:r>
          </a:p>
        </p:txBody>
      </p:sp>
      <p:sp>
        <p:nvSpPr>
          <p:cNvPr id="3" name="Content Placeholder 2"/>
          <p:cNvSpPr>
            <a:spLocks noGrp="1"/>
          </p:cNvSpPr>
          <p:nvPr>
            <p:ph idx="1"/>
          </p:nvPr>
        </p:nvSpPr>
        <p:spPr/>
        <p:txBody>
          <a:bodyPr>
            <a:normAutofit/>
          </a:bodyPr>
          <a:lstStyle/>
          <a:p>
            <a:r>
              <a:rPr lang="en-GB" sz="3600" dirty="0"/>
              <a:t>What is a team?</a:t>
            </a:r>
          </a:p>
          <a:p>
            <a:r>
              <a:rPr lang="en-GB" sz="3600" dirty="0"/>
              <a:t>Team roles, responsibilities</a:t>
            </a:r>
          </a:p>
          <a:p>
            <a:r>
              <a:rPr lang="en-GB" sz="3600" dirty="0"/>
              <a:t>Pro-group behaviours</a:t>
            </a:r>
          </a:p>
          <a:p>
            <a:r>
              <a:rPr lang="en-GB" sz="3600" dirty="0"/>
              <a:t>Anti-group behaviours</a:t>
            </a:r>
          </a:p>
          <a:p>
            <a:r>
              <a:rPr lang="en-GB" sz="3600" dirty="0"/>
              <a:t>Some golden rules</a:t>
            </a:r>
          </a:p>
        </p:txBody>
      </p:sp>
    </p:spTree>
    <p:extLst>
      <p:ext uri="{BB962C8B-B14F-4D97-AF65-F5344CB8AC3E}">
        <p14:creationId xmlns:p14="http://schemas.microsoft.com/office/powerpoint/2010/main" val="1818728576"/>
      </p:ext>
    </p:extLst>
  </p:cSld>
  <p:clrMapOvr>
    <a:masterClrMapping/>
  </p:clrMapOvr>
  <mc:AlternateContent xmlns:mc="http://schemas.openxmlformats.org/markup-compatibility/2006" xmlns:p14="http://schemas.microsoft.com/office/powerpoint/2010/main">
    <mc:Choice Requires="p14">
      <p:transition spd="slow" p14:dur="2000" advTm="50933"/>
    </mc:Choice>
    <mc:Fallback xmlns="">
      <p:transition spd="slow" advTm="5093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a team?</a:t>
            </a:r>
          </a:p>
        </p:txBody>
      </p:sp>
      <p:sp>
        <p:nvSpPr>
          <p:cNvPr id="3" name="Content Placeholder 2"/>
          <p:cNvSpPr>
            <a:spLocks noGrp="1"/>
          </p:cNvSpPr>
          <p:nvPr>
            <p:ph idx="1"/>
          </p:nvPr>
        </p:nvSpPr>
        <p:spPr/>
        <p:txBody>
          <a:bodyPr>
            <a:normAutofit fontScale="92500" lnSpcReduction="10000"/>
          </a:bodyPr>
          <a:lstStyle/>
          <a:p>
            <a:r>
              <a:rPr lang="en-GB" dirty="0"/>
              <a:t>A team is a collection of individuals who work together towards a common, shared objective</a:t>
            </a:r>
          </a:p>
          <a:p>
            <a:r>
              <a:rPr lang="en-GB" dirty="0"/>
              <a:t>Individuals</a:t>
            </a:r>
          </a:p>
          <a:p>
            <a:pPr lvl="1"/>
            <a:r>
              <a:rPr lang="en-GB" dirty="0"/>
              <a:t>Have different skills, strengths and weaknesses</a:t>
            </a:r>
          </a:p>
          <a:p>
            <a:pPr lvl="1"/>
            <a:r>
              <a:rPr lang="en-GB" dirty="0"/>
              <a:t>Assume different roles in a team</a:t>
            </a:r>
          </a:p>
          <a:p>
            <a:pPr lvl="2"/>
            <a:r>
              <a:rPr lang="en-GB" dirty="0"/>
              <a:t>Leader, worker, finisher, motivator, </a:t>
            </a:r>
          </a:p>
          <a:p>
            <a:pPr lvl="1"/>
            <a:r>
              <a:rPr lang="en-GB" dirty="0"/>
              <a:t>Communicate in different ways</a:t>
            </a:r>
          </a:p>
          <a:p>
            <a:pPr lvl="2"/>
            <a:r>
              <a:rPr lang="en-GB" dirty="0"/>
              <a:t>Reflecting versus spontaneous contribution</a:t>
            </a:r>
          </a:p>
          <a:p>
            <a:pPr lvl="1"/>
            <a:r>
              <a:rPr lang="en-GB" dirty="0"/>
              <a:t>Have different demands on their time</a:t>
            </a:r>
          </a:p>
          <a:p>
            <a:pPr lvl="2"/>
            <a:r>
              <a:rPr lang="en-GB" dirty="0"/>
              <a:t>Other courses, extra curricular activities and responsibilities</a:t>
            </a:r>
          </a:p>
        </p:txBody>
      </p:sp>
    </p:spTree>
    <p:extLst>
      <p:ext uri="{BB962C8B-B14F-4D97-AF65-F5344CB8AC3E}">
        <p14:creationId xmlns:p14="http://schemas.microsoft.com/office/powerpoint/2010/main" val="3079294551"/>
      </p:ext>
    </p:extLst>
  </p:cSld>
  <p:clrMapOvr>
    <a:masterClrMapping/>
  </p:clrMapOvr>
  <mc:AlternateContent xmlns:mc="http://schemas.openxmlformats.org/markup-compatibility/2006" xmlns:p14="http://schemas.microsoft.com/office/powerpoint/2010/main">
    <mc:Choice Requires="p14">
      <p:transition spd="slow" p14:dur="2000" advTm="95199"/>
    </mc:Choice>
    <mc:Fallback xmlns="">
      <p:transition spd="slow" advTm="9519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Team planning</a:t>
            </a:r>
          </a:p>
        </p:txBody>
      </p:sp>
      <p:sp>
        <p:nvSpPr>
          <p:cNvPr id="3" name="Content Placeholder 2"/>
          <p:cNvSpPr>
            <a:spLocks noGrp="1"/>
          </p:cNvSpPr>
          <p:nvPr>
            <p:ph idx="1"/>
          </p:nvPr>
        </p:nvSpPr>
        <p:spPr/>
        <p:txBody>
          <a:bodyPr>
            <a:normAutofit fontScale="92500" lnSpcReduction="20000"/>
          </a:bodyPr>
          <a:lstStyle/>
          <a:p>
            <a:r>
              <a:rPr lang="en-GB" dirty="0"/>
              <a:t>Ensure everyone understands (and agrees upon) what the objective is</a:t>
            </a:r>
          </a:p>
          <a:p>
            <a:pPr lvl="8"/>
            <a:endParaRPr lang="en-GB" dirty="0"/>
          </a:p>
          <a:p>
            <a:r>
              <a:rPr lang="en-GB" dirty="0"/>
              <a:t>Ensure that everyone is clear about what they are supposed to be doing and have the same expectations – don’t make assumptions</a:t>
            </a:r>
          </a:p>
          <a:p>
            <a:pPr lvl="8"/>
            <a:endParaRPr lang="en-GB" dirty="0"/>
          </a:p>
          <a:p>
            <a:r>
              <a:rPr lang="en-GB" dirty="0"/>
              <a:t>Make sure deadlines are clear and achievable</a:t>
            </a:r>
          </a:p>
          <a:p>
            <a:pPr lvl="8"/>
            <a:endParaRPr lang="en-GB" dirty="0"/>
          </a:p>
          <a:p>
            <a:r>
              <a:rPr lang="en-GB" dirty="0"/>
              <a:t>Everyone should be involved in coding</a:t>
            </a:r>
          </a:p>
          <a:p>
            <a:pPr lvl="1"/>
            <a:r>
              <a:rPr lang="en-GB" dirty="0"/>
              <a:t>Everyone must be allocated coding tasks</a:t>
            </a:r>
          </a:p>
          <a:p>
            <a:pPr marL="0" indent="0">
              <a:buNone/>
            </a:pPr>
            <a:endParaRPr lang="en-GB" dirty="0"/>
          </a:p>
          <a:p>
            <a:endParaRPr lang="en-GB" dirty="0"/>
          </a:p>
        </p:txBody>
      </p:sp>
    </p:spTree>
    <p:extLst>
      <p:ext uri="{BB962C8B-B14F-4D97-AF65-F5344CB8AC3E}">
        <p14:creationId xmlns:p14="http://schemas.microsoft.com/office/powerpoint/2010/main" val="3146174913"/>
      </p:ext>
    </p:extLst>
  </p:cSld>
  <p:clrMapOvr>
    <a:masterClrMapping/>
  </p:clrMapOvr>
  <mc:AlternateContent xmlns:mc="http://schemas.openxmlformats.org/markup-compatibility/2006" xmlns:p14="http://schemas.microsoft.com/office/powerpoint/2010/main">
    <mc:Choice Requires="p14">
      <p:transition spd="slow" p14:dur="2000" advTm="62819"/>
    </mc:Choice>
    <mc:Fallback xmlns="">
      <p:transition spd="slow" advTm="6281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752"/>
            <a:ext cx="8229600" cy="1143000"/>
          </a:xfrm>
        </p:spPr>
        <p:txBody>
          <a:bodyPr/>
          <a:lstStyle/>
          <a:p>
            <a:r>
              <a:rPr lang="en-GB" dirty="0"/>
              <a:t>Planning your work</a:t>
            </a:r>
          </a:p>
        </p:txBody>
      </p:sp>
      <p:sp>
        <p:nvSpPr>
          <p:cNvPr id="3" name="Content Placeholder 2"/>
          <p:cNvSpPr>
            <a:spLocks noGrp="1"/>
          </p:cNvSpPr>
          <p:nvPr>
            <p:ph idx="1"/>
          </p:nvPr>
        </p:nvSpPr>
        <p:spPr>
          <a:xfrm>
            <a:off x="251520" y="1196752"/>
            <a:ext cx="8640960" cy="5534075"/>
          </a:xfrm>
        </p:spPr>
        <p:txBody>
          <a:bodyPr>
            <a:noAutofit/>
          </a:bodyPr>
          <a:lstStyle/>
          <a:p>
            <a:r>
              <a:rPr lang="en-GB" sz="2800" dirty="0"/>
              <a:t>Meet, communicate, plan, complete, review and deliver</a:t>
            </a:r>
          </a:p>
          <a:p>
            <a:pPr lvl="1"/>
            <a:r>
              <a:rPr lang="en-GB" sz="2400" dirty="0"/>
              <a:t>Initial meeting (and then regular meetings thereafter)</a:t>
            </a:r>
          </a:p>
          <a:p>
            <a:pPr lvl="2"/>
            <a:r>
              <a:rPr lang="en-GB" sz="2000" dirty="0"/>
              <a:t>Decide how to share information (shared docs, GitHub etc.)</a:t>
            </a:r>
          </a:p>
          <a:p>
            <a:pPr lvl="1"/>
            <a:r>
              <a:rPr lang="en-GB" sz="2400" dirty="0"/>
              <a:t>Think about tasks that need to be performed (and deadlines)</a:t>
            </a:r>
          </a:p>
          <a:p>
            <a:pPr lvl="2"/>
            <a:r>
              <a:rPr lang="en-GB" sz="2000" dirty="0"/>
              <a:t>Writing the requirements</a:t>
            </a:r>
          </a:p>
          <a:p>
            <a:pPr lvl="2"/>
            <a:r>
              <a:rPr lang="en-GB" sz="2000" dirty="0"/>
              <a:t>User interface designs (text-based or GUI)</a:t>
            </a:r>
          </a:p>
          <a:p>
            <a:pPr lvl="2"/>
            <a:r>
              <a:rPr lang="en-GB" sz="2000" dirty="0"/>
              <a:t>What data structures to use? What classes? Produce a system design</a:t>
            </a:r>
          </a:p>
          <a:p>
            <a:pPr lvl="2"/>
            <a:r>
              <a:rPr lang="en-GB" sz="2000" dirty="0"/>
              <a:t>Define the classes, and the most important fields and methods</a:t>
            </a:r>
          </a:p>
          <a:p>
            <a:pPr lvl="2"/>
            <a:r>
              <a:rPr lang="en-GB" sz="2000" dirty="0"/>
              <a:t>Writing the code</a:t>
            </a:r>
          </a:p>
          <a:p>
            <a:pPr lvl="3"/>
            <a:r>
              <a:rPr lang="en-GB" sz="1600" dirty="0"/>
              <a:t>Data structures, menu system, file writing logic, etc.</a:t>
            </a:r>
          </a:p>
          <a:p>
            <a:pPr lvl="2"/>
            <a:r>
              <a:rPr lang="en-GB" sz="2000" dirty="0"/>
              <a:t>Documentation including commenting of code</a:t>
            </a:r>
          </a:p>
          <a:p>
            <a:pPr lvl="2"/>
            <a:r>
              <a:rPr lang="en-GB" sz="2000" dirty="0"/>
              <a:t>Reviewing</a:t>
            </a:r>
          </a:p>
          <a:p>
            <a:pPr lvl="2"/>
            <a:r>
              <a:rPr lang="en-GB" sz="2000" dirty="0"/>
              <a:t>Testing (test plan defined early in project and then completed test sheets)</a:t>
            </a:r>
          </a:p>
        </p:txBody>
      </p:sp>
    </p:spTree>
    <p:extLst>
      <p:ext uri="{BB962C8B-B14F-4D97-AF65-F5344CB8AC3E}">
        <p14:creationId xmlns:p14="http://schemas.microsoft.com/office/powerpoint/2010/main" val="3049911201"/>
      </p:ext>
    </p:extLst>
  </p:cSld>
  <p:clrMapOvr>
    <a:masterClrMapping/>
  </p:clrMapOvr>
  <mc:AlternateContent xmlns:mc="http://schemas.openxmlformats.org/markup-compatibility/2006" xmlns:p14="http://schemas.microsoft.com/office/powerpoint/2010/main">
    <mc:Choice Requires="p14">
      <p:transition spd="slow" p14:dur="2000" advTm="72781"/>
    </mc:Choice>
    <mc:Fallback xmlns="">
      <p:transition spd="slow" advTm="7278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GB" dirty="0"/>
              <a:t>Planning your work (2)</a:t>
            </a:r>
          </a:p>
        </p:txBody>
      </p:sp>
      <p:sp>
        <p:nvSpPr>
          <p:cNvPr id="3" name="Content Placeholder 2"/>
          <p:cNvSpPr>
            <a:spLocks noGrp="1"/>
          </p:cNvSpPr>
          <p:nvPr>
            <p:ph idx="1"/>
          </p:nvPr>
        </p:nvSpPr>
        <p:spPr>
          <a:xfrm>
            <a:off x="323528" y="1124744"/>
            <a:ext cx="8229600" cy="4525963"/>
          </a:xfrm>
        </p:spPr>
        <p:txBody>
          <a:bodyPr>
            <a:noAutofit/>
          </a:bodyPr>
          <a:lstStyle/>
          <a:p>
            <a:pPr lvl="1"/>
            <a:r>
              <a:rPr lang="en-GB" sz="2400" dirty="0"/>
              <a:t>Define roles / tasks for each other</a:t>
            </a:r>
          </a:p>
          <a:p>
            <a:pPr lvl="2"/>
            <a:r>
              <a:rPr lang="en-GB" sz="2000" dirty="0"/>
              <a:t>Do you want a team leader?</a:t>
            </a:r>
          </a:p>
          <a:p>
            <a:pPr lvl="1"/>
            <a:r>
              <a:rPr lang="en-GB" sz="2400" dirty="0"/>
              <a:t>Delegate work to each other (assign tasks)</a:t>
            </a:r>
          </a:p>
          <a:p>
            <a:pPr lvl="2"/>
            <a:r>
              <a:rPr lang="en-GB" sz="2000" dirty="0"/>
              <a:t>Write a class that does …</a:t>
            </a:r>
          </a:p>
          <a:p>
            <a:pPr lvl="2"/>
            <a:r>
              <a:rPr lang="en-GB" sz="2000" dirty="0"/>
              <a:t>Add method(s) to class ‘Y’ for …</a:t>
            </a:r>
          </a:p>
          <a:p>
            <a:pPr lvl="2"/>
            <a:r>
              <a:rPr lang="en-GB" sz="2000" dirty="0"/>
              <a:t>Add test methods to class ‘z’…</a:t>
            </a:r>
          </a:p>
          <a:p>
            <a:pPr lvl="2"/>
            <a:r>
              <a:rPr lang="en-GB" sz="2000" dirty="0"/>
              <a:t>Add a ‘requirements’ section to the team report</a:t>
            </a:r>
          </a:p>
          <a:p>
            <a:pPr lvl="2"/>
            <a:r>
              <a:rPr lang="en-GB" sz="2000" dirty="0"/>
              <a:t>Etc.</a:t>
            </a:r>
          </a:p>
          <a:p>
            <a:pPr lvl="2"/>
            <a:r>
              <a:rPr lang="en-GB" sz="2000" b="1" dirty="0">
                <a:solidFill>
                  <a:srgbClr val="FF0000"/>
                </a:solidFill>
              </a:rPr>
              <a:t>NOTE: EVERYONE MUST CONTRIBUTE TO THE PROGRAMMING</a:t>
            </a:r>
          </a:p>
          <a:p>
            <a:pPr lvl="1"/>
            <a:r>
              <a:rPr lang="en-GB" sz="2400" dirty="0"/>
              <a:t>Set deadlines for tasks </a:t>
            </a:r>
          </a:p>
          <a:p>
            <a:pPr lvl="2"/>
            <a:r>
              <a:rPr lang="en-GB" sz="2000" dirty="0"/>
              <a:t>Realistic estimates of time to complete a task </a:t>
            </a:r>
          </a:p>
          <a:p>
            <a:pPr lvl="1"/>
            <a:r>
              <a:rPr lang="en-GB" sz="2400" dirty="0"/>
              <a:t>Measure progress</a:t>
            </a:r>
          </a:p>
          <a:p>
            <a:pPr lvl="1"/>
            <a:r>
              <a:rPr lang="en-GB" sz="2400" dirty="0"/>
              <a:t>Don’t leave it all until the day before a deadline</a:t>
            </a:r>
          </a:p>
        </p:txBody>
      </p:sp>
    </p:spTree>
    <p:extLst>
      <p:ext uri="{BB962C8B-B14F-4D97-AF65-F5344CB8AC3E}">
        <p14:creationId xmlns:p14="http://schemas.microsoft.com/office/powerpoint/2010/main" val="547572113"/>
      </p:ext>
    </p:extLst>
  </p:cSld>
  <p:clrMapOvr>
    <a:masterClrMapping/>
  </p:clrMapOvr>
  <mc:AlternateContent xmlns:mc="http://schemas.openxmlformats.org/markup-compatibility/2006" xmlns:p14="http://schemas.microsoft.com/office/powerpoint/2010/main">
    <mc:Choice Requires="p14">
      <p:transition spd="slow" p14:dur="2000" advTm="42875"/>
    </mc:Choice>
    <mc:Fallback xmlns="">
      <p:transition spd="slow" advTm="4287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Pro-team behaviours</a:t>
            </a:r>
          </a:p>
        </p:txBody>
      </p:sp>
      <p:sp>
        <p:nvSpPr>
          <p:cNvPr id="3" name="Content Placeholder 2"/>
          <p:cNvSpPr>
            <a:spLocks noGrp="1"/>
          </p:cNvSpPr>
          <p:nvPr>
            <p:ph idx="1"/>
          </p:nvPr>
        </p:nvSpPr>
        <p:spPr/>
        <p:txBody>
          <a:bodyPr>
            <a:normAutofit fontScale="77500" lnSpcReduction="20000"/>
          </a:bodyPr>
          <a:lstStyle/>
          <a:p>
            <a:r>
              <a:rPr lang="en-GB" dirty="0"/>
              <a:t>Attending class sessions and meetings</a:t>
            </a:r>
          </a:p>
          <a:p>
            <a:r>
              <a:rPr lang="en-GB" dirty="0"/>
              <a:t>Contributing to work and discussions</a:t>
            </a:r>
          </a:p>
          <a:p>
            <a:r>
              <a:rPr lang="en-GB" dirty="0"/>
              <a:t>Constructive inputs and criticisms</a:t>
            </a:r>
          </a:p>
          <a:p>
            <a:pPr lvl="1"/>
            <a:r>
              <a:rPr lang="en-GB" dirty="0"/>
              <a:t>It’s ok to question but look for the way forward.</a:t>
            </a:r>
          </a:p>
          <a:p>
            <a:r>
              <a:rPr lang="en-GB" dirty="0"/>
              <a:t>Working within agreed timescales</a:t>
            </a:r>
          </a:p>
          <a:p>
            <a:r>
              <a:rPr lang="en-GB" dirty="0"/>
              <a:t>Completing work which is assigned to you</a:t>
            </a:r>
          </a:p>
          <a:p>
            <a:r>
              <a:rPr lang="en-GB" dirty="0"/>
              <a:t>Having a can-do attitude</a:t>
            </a:r>
          </a:p>
          <a:p>
            <a:r>
              <a:rPr lang="en-GB" dirty="0"/>
              <a:t>Communicating, keeping people aware of progress</a:t>
            </a:r>
          </a:p>
          <a:p>
            <a:r>
              <a:rPr lang="en-GB" dirty="0"/>
              <a:t>Supporting each other</a:t>
            </a:r>
          </a:p>
          <a:p>
            <a:pPr lvl="1"/>
            <a:r>
              <a:rPr lang="en-GB" dirty="0"/>
              <a:t>Clarifying. Pair programming?</a:t>
            </a:r>
          </a:p>
          <a:p>
            <a:r>
              <a:rPr lang="en-GB" dirty="0"/>
              <a:t>Including each other in discussions</a:t>
            </a:r>
          </a:p>
          <a:p>
            <a:r>
              <a:rPr lang="en-GB" dirty="0"/>
              <a:t>Asking for help!</a:t>
            </a:r>
          </a:p>
          <a:p>
            <a:endParaRPr lang="en-GB" dirty="0"/>
          </a:p>
        </p:txBody>
      </p:sp>
    </p:spTree>
    <p:extLst>
      <p:ext uri="{BB962C8B-B14F-4D97-AF65-F5344CB8AC3E}">
        <p14:creationId xmlns:p14="http://schemas.microsoft.com/office/powerpoint/2010/main" val="3333799232"/>
      </p:ext>
    </p:extLst>
  </p:cSld>
  <p:clrMapOvr>
    <a:masterClrMapping/>
  </p:clrMapOvr>
  <mc:AlternateContent xmlns:mc="http://schemas.openxmlformats.org/markup-compatibility/2006" xmlns:p14="http://schemas.microsoft.com/office/powerpoint/2010/main">
    <mc:Choice Requires="p14">
      <p:transition spd="slow" p14:dur="2000" advTm="71580"/>
    </mc:Choice>
    <mc:Fallback xmlns="">
      <p:transition spd="slow" advTm="7158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Anti-team behaviours</a:t>
            </a:r>
          </a:p>
        </p:txBody>
      </p:sp>
      <p:sp>
        <p:nvSpPr>
          <p:cNvPr id="3" name="Content Placeholder 2"/>
          <p:cNvSpPr>
            <a:spLocks noGrp="1"/>
          </p:cNvSpPr>
          <p:nvPr>
            <p:ph idx="1"/>
          </p:nvPr>
        </p:nvSpPr>
        <p:spPr/>
        <p:txBody>
          <a:bodyPr>
            <a:normAutofit fontScale="85000" lnSpcReduction="10000"/>
          </a:bodyPr>
          <a:lstStyle/>
          <a:p>
            <a:r>
              <a:rPr lang="en-GB" b="1" dirty="0">
                <a:solidFill>
                  <a:srgbClr val="FF0000"/>
                </a:solidFill>
              </a:rPr>
              <a:t>Lack of attendance</a:t>
            </a:r>
          </a:p>
          <a:p>
            <a:r>
              <a:rPr lang="en-GB" dirty="0"/>
              <a:t>Not responding, communicating</a:t>
            </a:r>
          </a:p>
          <a:p>
            <a:r>
              <a:rPr lang="en-GB" b="1" dirty="0">
                <a:solidFill>
                  <a:srgbClr val="FF0000"/>
                </a:solidFill>
              </a:rPr>
              <a:t>Not contributing to work</a:t>
            </a:r>
          </a:p>
          <a:p>
            <a:r>
              <a:rPr lang="en-GB" dirty="0"/>
              <a:t>Delivering work late or on the day of the final deadline</a:t>
            </a:r>
          </a:p>
          <a:p>
            <a:r>
              <a:rPr lang="en-GB" b="1" dirty="0">
                <a:solidFill>
                  <a:srgbClr val="FF0000"/>
                </a:solidFill>
              </a:rPr>
              <a:t>Not allowing others to contribute </a:t>
            </a:r>
            <a:r>
              <a:rPr lang="en-GB" dirty="0"/>
              <a:t>(seeking to do all of the work yourself)</a:t>
            </a:r>
          </a:p>
          <a:p>
            <a:r>
              <a:rPr lang="en-GB" dirty="0"/>
              <a:t>Negative criticisms</a:t>
            </a:r>
          </a:p>
          <a:p>
            <a:r>
              <a:rPr lang="en-GB" dirty="0"/>
              <a:t>Undermining others</a:t>
            </a:r>
          </a:p>
          <a:p>
            <a:r>
              <a:rPr lang="en-GB" dirty="0"/>
              <a:t>Not making clear what the expectations are</a:t>
            </a:r>
          </a:p>
          <a:p>
            <a:pPr lvl="1"/>
            <a:r>
              <a:rPr lang="en-GB" dirty="0"/>
              <a:t>Others can’t be mind readers</a:t>
            </a:r>
          </a:p>
        </p:txBody>
      </p:sp>
    </p:spTree>
    <p:extLst>
      <p:ext uri="{BB962C8B-B14F-4D97-AF65-F5344CB8AC3E}">
        <p14:creationId xmlns:p14="http://schemas.microsoft.com/office/powerpoint/2010/main" val="1090676088"/>
      </p:ext>
    </p:extLst>
  </p:cSld>
  <p:clrMapOvr>
    <a:masterClrMapping/>
  </p:clrMapOvr>
  <mc:AlternateContent xmlns:mc="http://schemas.openxmlformats.org/markup-compatibility/2006" xmlns:p14="http://schemas.microsoft.com/office/powerpoint/2010/main">
    <mc:Choice Requires="p14">
      <p:transition spd="slow" p14:dur="2000" advTm="41991"/>
    </mc:Choice>
    <mc:Fallback xmlns="">
      <p:transition spd="slow" advTm="4199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Some golden rules</a:t>
            </a:r>
          </a:p>
        </p:txBody>
      </p:sp>
      <p:sp>
        <p:nvSpPr>
          <p:cNvPr id="3" name="Content Placeholder 2"/>
          <p:cNvSpPr>
            <a:spLocks noGrp="1"/>
          </p:cNvSpPr>
          <p:nvPr>
            <p:ph idx="1"/>
          </p:nvPr>
        </p:nvSpPr>
        <p:spPr/>
        <p:txBody>
          <a:bodyPr>
            <a:normAutofit fontScale="92500" lnSpcReduction="10000"/>
          </a:bodyPr>
          <a:lstStyle/>
          <a:p>
            <a:r>
              <a:rPr lang="en-GB" dirty="0"/>
              <a:t>Clear roles, expectations and timescales</a:t>
            </a:r>
          </a:p>
          <a:p>
            <a:pPr lvl="1"/>
            <a:r>
              <a:rPr lang="en-GB" dirty="0"/>
              <a:t>Everyone knows who is doing what and when</a:t>
            </a:r>
          </a:p>
          <a:p>
            <a:pPr lvl="1"/>
            <a:r>
              <a:rPr lang="en-GB" dirty="0"/>
              <a:t>Progress can be gauged</a:t>
            </a:r>
          </a:p>
          <a:p>
            <a:pPr lvl="8"/>
            <a:endParaRPr lang="en-GB" sz="1100" dirty="0"/>
          </a:p>
          <a:p>
            <a:r>
              <a:rPr lang="en-GB" dirty="0"/>
              <a:t>Communicate</a:t>
            </a:r>
          </a:p>
          <a:p>
            <a:pPr lvl="1"/>
            <a:r>
              <a:rPr lang="en-GB" dirty="0"/>
              <a:t>Keep others aware of progress and status</a:t>
            </a:r>
          </a:p>
          <a:p>
            <a:pPr lvl="1"/>
            <a:r>
              <a:rPr lang="en-GB" dirty="0"/>
              <a:t>Raise issues in case workarounds are required</a:t>
            </a:r>
          </a:p>
          <a:p>
            <a:pPr lvl="1"/>
            <a:r>
              <a:rPr lang="en-GB" dirty="0"/>
              <a:t>Don’t get stuck</a:t>
            </a:r>
          </a:p>
          <a:p>
            <a:pPr lvl="8"/>
            <a:endParaRPr lang="en-GB" sz="1100" dirty="0"/>
          </a:p>
          <a:p>
            <a:r>
              <a:rPr lang="en-GB" dirty="0"/>
              <a:t>Do the work!</a:t>
            </a:r>
          </a:p>
          <a:p>
            <a:pPr lvl="1"/>
            <a:r>
              <a:rPr lang="en-GB" dirty="0"/>
              <a:t>Ask for help if you need it</a:t>
            </a:r>
          </a:p>
          <a:p>
            <a:pPr lvl="1"/>
            <a:endParaRPr lang="en-GB" dirty="0"/>
          </a:p>
        </p:txBody>
      </p:sp>
    </p:spTree>
    <p:extLst>
      <p:ext uri="{BB962C8B-B14F-4D97-AF65-F5344CB8AC3E}">
        <p14:creationId xmlns:p14="http://schemas.microsoft.com/office/powerpoint/2010/main" val="937454153"/>
      </p:ext>
    </p:extLst>
  </p:cSld>
  <p:clrMapOvr>
    <a:masterClrMapping/>
  </p:clrMapOvr>
  <mc:AlternateContent xmlns:mc="http://schemas.openxmlformats.org/markup-compatibility/2006" xmlns:p14="http://schemas.microsoft.com/office/powerpoint/2010/main">
    <mc:Choice Requires="p14">
      <p:transition spd="slow" p14:dur="2000" advTm="23671"/>
    </mc:Choice>
    <mc:Fallback xmlns="">
      <p:transition spd="slow" advTm="2367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teams?</a:t>
            </a:r>
          </a:p>
        </p:txBody>
      </p:sp>
      <p:sp>
        <p:nvSpPr>
          <p:cNvPr id="3" name="Content Placeholder 2"/>
          <p:cNvSpPr>
            <a:spLocks noGrp="1"/>
          </p:cNvSpPr>
          <p:nvPr>
            <p:ph idx="1"/>
          </p:nvPr>
        </p:nvSpPr>
        <p:spPr/>
        <p:txBody>
          <a:bodyPr>
            <a:normAutofit/>
          </a:bodyPr>
          <a:lstStyle/>
          <a:p>
            <a:r>
              <a:rPr lang="en-GB" dirty="0"/>
              <a:t>An essential skill for any workplace</a:t>
            </a:r>
          </a:p>
          <a:p>
            <a:pPr lvl="1"/>
            <a:r>
              <a:rPr lang="en-GB" dirty="0"/>
              <a:t>Industry, academia, part-time work</a:t>
            </a:r>
          </a:p>
          <a:p>
            <a:pPr lvl="8"/>
            <a:endParaRPr lang="en-GB" sz="1100" dirty="0"/>
          </a:p>
          <a:p>
            <a:r>
              <a:rPr lang="en-GB" dirty="0"/>
              <a:t>It is rewarding to share a problem with others and complete it with others</a:t>
            </a:r>
          </a:p>
          <a:p>
            <a:pPr lvl="8"/>
            <a:endParaRPr lang="en-GB" sz="1100" dirty="0"/>
          </a:p>
          <a:p>
            <a:r>
              <a:rPr lang="en-GB" dirty="0"/>
              <a:t>Enhancing employability</a:t>
            </a:r>
          </a:p>
          <a:p>
            <a:pPr lvl="1"/>
            <a:r>
              <a:rPr lang="en-GB" dirty="0"/>
              <a:t>being able to work effectively alongside others is a skill that you really should be practising from early on and throughout your time at University.</a:t>
            </a:r>
          </a:p>
        </p:txBody>
      </p:sp>
    </p:spTree>
    <p:extLst>
      <p:ext uri="{BB962C8B-B14F-4D97-AF65-F5344CB8AC3E}">
        <p14:creationId xmlns:p14="http://schemas.microsoft.com/office/powerpoint/2010/main" val="2603778815"/>
      </p:ext>
    </p:extLst>
  </p:cSld>
  <p:clrMapOvr>
    <a:masterClrMapping/>
  </p:clrMapOvr>
  <mc:AlternateContent xmlns:mc="http://schemas.openxmlformats.org/markup-compatibility/2006" xmlns:p14="http://schemas.microsoft.com/office/powerpoint/2010/main">
    <mc:Choice Requires="p14">
      <p:transition spd="slow" p14:dur="2000" advTm="28154"/>
    </mc:Choice>
    <mc:Fallback xmlns="">
      <p:transition spd="slow" advTm="2815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Managing information</a:t>
            </a:r>
          </a:p>
        </p:txBody>
      </p:sp>
      <p:sp>
        <p:nvSpPr>
          <p:cNvPr id="3" name="Content Placeholder 2"/>
          <p:cNvSpPr>
            <a:spLocks noGrp="1"/>
          </p:cNvSpPr>
          <p:nvPr>
            <p:ph idx="1"/>
          </p:nvPr>
        </p:nvSpPr>
        <p:spPr>
          <a:xfrm>
            <a:off x="457200" y="1600200"/>
            <a:ext cx="8579296" cy="4525963"/>
          </a:xfrm>
        </p:spPr>
        <p:txBody>
          <a:bodyPr>
            <a:normAutofit/>
          </a:bodyPr>
          <a:lstStyle/>
          <a:p>
            <a:r>
              <a:rPr lang="en-GB" dirty="0"/>
              <a:t>Use shared documents to work on?</a:t>
            </a:r>
          </a:p>
          <a:p>
            <a:r>
              <a:rPr lang="en-GB" dirty="0"/>
              <a:t>Use source control to manage source code?</a:t>
            </a:r>
          </a:p>
          <a:p>
            <a:pPr lvl="1"/>
            <a:r>
              <a:rPr lang="en-GB" dirty="0"/>
              <a:t>E.g., GitHub etc.</a:t>
            </a:r>
          </a:p>
          <a:p>
            <a:pPr lvl="1"/>
            <a:r>
              <a:rPr lang="en-GB" dirty="0"/>
              <a:t>Make sure everyone knows how to use it properly!</a:t>
            </a:r>
          </a:p>
          <a:p>
            <a:r>
              <a:rPr lang="en-GB" dirty="0"/>
              <a:t>It is up to each team to decide how best to manage communication, and to document and implement the system</a:t>
            </a:r>
          </a:p>
          <a:p>
            <a:r>
              <a:rPr lang="en-GB" dirty="0"/>
              <a:t>I can set up channels for teams if required</a:t>
            </a:r>
          </a:p>
        </p:txBody>
      </p:sp>
    </p:spTree>
    <p:extLst>
      <p:ext uri="{BB962C8B-B14F-4D97-AF65-F5344CB8AC3E}">
        <p14:creationId xmlns:p14="http://schemas.microsoft.com/office/powerpoint/2010/main" val="2435584166"/>
      </p:ext>
    </p:extLst>
  </p:cSld>
  <p:clrMapOvr>
    <a:masterClrMapping/>
  </p:clrMapOvr>
  <mc:AlternateContent xmlns:mc="http://schemas.openxmlformats.org/markup-compatibility/2006" xmlns:p14="http://schemas.microsoft.com/office/powerpoint/2010/main">
    <mc:Choice Requires="p14">
      <p:transition spd="slow" p14:dur="2000" advTm="20489"/>
    </mc:Choice>
    <mc:Fallback xmlns="">
      <p:transition spd="slow" advTm="20489"/>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1363</Words>
  <Application>Microsoft Office PowerPoint</Application>
  <PresentationFormat>On-screen Show (4:3)</PresentationFormat>
  <Paragraphs>187</Paragraphs>
  <Slides>20</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Team Project Intro</vt:lpstr>
      <vt:lpstr>What is the project?</vt:lpstr>
      <vt:lpstr>Main requirements</vt:lpstr>
      <vt:lpstr>Main requirements (2)</vt:lpstr>
      <vt:lpstr>Added extras</vt:lpstr>
      <vt:lpstr>Deliverables</vt:lpstr>
      <vt:lpstr>Marking scheme</vt:lpstr>
      <vt:lpstr>Peer Review</vt:lpstr>
      <vt:lpstr>Team Allocations</vt:lpstr>
      <vt:lpstr>Team working</vt:lpstr>
      <vt:lpstr>What is a team?</vt:lpstr>
      <vt:lpstr>Team planning</vt:lpstr>
      <vt:lpstr>Planning your work</vt:lpstr>
      <vt:lpstr>Planning your work (2)</vt:lpstr>
      <vt:lpstr>Pro-team behaviours</vt:lpstr>
      <vt:lpstr>Anti-team behaviours</vt:lpstr>
      <vt:lpstr>Some golden rules</vt:lpstr>
      <vt:lpstr>Why teams?</vt:lpstr>
      <vt:lpstr>Managing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craig</dc:creator>
  <cp:lastModifiedBy>Taimoor Zahid (Staff)</cp:lastModifiedBy>
  <cp:revision>51</cp:revision>
  <dcterms:created xsi:type="dcterms:W3CDTF">2015-03-06T13:24:03Z</dcterms:created>
  <dcterms:modified xsi:type="dcterms:W3CDTF">2026-06-05T05:15:48Z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18d1e0-f5d7-4da7-8ddd-3b83021a2c85_Enabled">
    <vt:lpwstr>true</vt:lpwstr>
  </property>
  <property fmtid="{D5CDD505-2E9C-101B-9397-08002B2CF9AE}" pid="3" name="MSIP_Label_a618d1e0-f5d7-4da7-8ddd-3b83021a2c85_SetDate">
    <vt:lpwstr>2026-06-04T03:22:33Z</vt:lpwstr>
  </property>
  <property fmtid="{D5CDD505-2E9C-101B-9397-08002B2CF9AE}" pid="4" name="MSIP_Label_a618d1e0-f5d7-4da7-8ddd-3b83021a2c85_Method">
    <vt:lpwstr>Standard</vt:lpwstr>
  </property>
  <property fmtid="{D5CDD505-2E9C-101B-9397-08002B2CF9AE}" pid="5" name="MSIP_Label_a618d1e0-f5d7-4da7-8ddd-3b83021a2c85_Name">
    <vt:lpwstr>Private</vt:lpwstr>
  </property>
  <property fmtid="{D5CDD505-2E9C-101B-9397-08002B2CF9AE}" pid="6" name="MSIP_Label_a618d1e0-f5d7-4da7-8ddd-3b83021a2c85_SiteId">
    <vt:lpwstr>ae323139-093a-4d2a-81a6-5d334bcd9019</vt:lpwstr>
  </property>
  <property fmtid="{D5CDD505-2E9C-101B-9397-08002B2CF9AE}" pid="7" name="MSIP_Label_a618d1e0-f5d7-4da7-8ddd-3b83021a2c85_ActionId">
    <vt:lpwstr>f5f75b0d-3988-49b5-a6d6-5aba67622a92</vt:lpwstr>
  </property>
  <property fmtid="{D5CDD505-2E9C-101B-9397-08002B2CF9AE}" pid="8" name="MSIP_Label_a618d1e0-f5d7-4da7-8ddd-3b83021a2c85_ContentBits">
    <vt:lpwstr>0</vt:lpwstr>
  </property>
  <property fmtid="{D5CDD505-2E9C-101B-9397-08002B2CF9AE}" pid="9" name="MSIP_Label_a618d1e0-f5d7-4da7-8ddd-3b83021a2c85_Tag">
    <vt:lpwstr>10, 3, 0, 1</vt:lpwstr>
  </property>
</Properties>
</file>